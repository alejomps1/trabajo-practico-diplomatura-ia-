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334115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9692640" y="1280160"/>
            <a:ext cx="1005840" cy="548640"/>
          </a:xfrm>
          <a:prstGeom prst="line">
            <a:avLst/>
          </a:prstGeom>
          <a:noFill/>
          <a:ln w="19050">
            <a:solidFill>
              <a:srgbClr val="3B4A8C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" name="Shape 1"/>
          <p:cNvSpPr/>
          <p:nvPr/>
        </p:nvSpPr>
        <p:spPr>
          <a:xfrm>
            <a:off x="9692640" y="1828800"/>
            <a:ext cx="1188720" cy="822960"/>
          </a:xfrm>
          <a:prstGeom prst="line">
            <a:avLst/>
          </a:prstGeom>
          <a:noFill/>
          <a:ln w="19050">
            <a:solidFill>
              <a:srgbClr val="3B4A8C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4" name="Shape 2"/>
          <p:cNvSpPr/>
          <p:nvPr/>
        </p:nvSpPr>
        <p:spPr>
          <a:xfrm>
            <a:off x="9418320" y="1828800"/>
            <a:ext cx="274320" cy="1280160"/>
          </a:xfrm>
          <a:prstGeom prst="line">
            <a:avLst/>
          </a:prstGeom>
          <a:noFill/>
          <a:ln w="19050">
            <a:solidFill>
              <a:srgbClr val="3B4A8C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5" name="Shape 3"/>
          <p:cNvSpPr/>
          <p:nvPr/>
        </p:nvSpPr>
        <p:spPr>
          <a:xfrm>
            <a:off x="10698480" y="1280160"/>
            <a:ext cx="182880" cy="1371600"/>
          </a:xfrm>
          <a:prstGeom prst="line">
            <a:avLst/>
          </a:prstGeom>
          <a:noFill/>
          <a:ln w="19050">
            <a:solidFill>
              <a:srgbClr val="3B4A8C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6" name="Shape 4"/>
          <p:cNvSpPr/>
          <p:nvPr/>
        </p:nvSpPr>
        <p:spPr>
          <a:xfrm flipV="1">
            <a:off x="10881360" y="2011680"/>
            <a:ext cx="640080" cy="640080"/>
          </a:xfrm>
          <a:prstGeom prst="line">
            <a:avLst/>
          </a:prstGeom>
          <a:noFill/>
          <a:ln w="19050">
            <a:solidFill>
              <a:srgbClr val="3B4A8C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7" name="Shape 5"/>
          <p:cNvSpPr/>
          <p:nvPr/>
        </p:nvSpPr>
        <p:spPr>
          <a:xfrm>
            <a:off x="9582912" y="1719072"/>
            <a:ext cx="219456" cy="219456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8" name="Text 6"/>
          <p:cNvSpPr/>
          <p:nvPr/>
        </p:nvSpPr>
        <p:spPr>
          <a:xfrm>
            <a:off x="9582912" y="171907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0588752" y="1170432"/>
            <a:ext cx="219456" cy="219456"/>
          </a:xfrm>
          <a:prstGeom prst="ellipse">
            <a:avLst/>
          </a:prstGeom>
          <a:solidFill>
            <a:srgbClr val="3B4A8C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0" name="Text 8"/>
          <p:cNvSpPr/>
          <p:nvPr/>
        </p:nvSpPr>
        <p:spPr>
          <a:xfrm>
            <a:off x="10588752" y="117043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0771632" y="2542032"/>
            <a:ext cx="219456" cy="219456"/>
          </a:xfrm>
          <a:prstGeom prst="ellipse">
            <a:avLst/>
          </a:prstGeom>
          <a:solidFill>
            <a:srgbClr val="3B4A8C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2" name="Text 10"/>
          <p:cNvSpPr/>
          <p:nvPr/>
        </p:nvSpPr>
        <p:spPr>
          <a:xfrm>
            <a:off x="10771632" y="254203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9308592" y="2999232"/>
            <a:ext cx="219456" cy="219456"/>
          </a:xfrm>
          <a:prstGeom prst="ellipse">
            <a:avLst/>
          </a:prstGeom>
          <a:solidFill>
            <a:srgbClr val="3B4A8C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4" name="Text 12"/>
          <p:cNvSpPr/>
          <p:nvPr/>
        </p:nvSpPr>
        <p:spPr>
          <a:xfrm>
            <a:off x="9308592" y="299923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1411712" y="1901952"/>
            <a:ext cx="219456" cy="219456"/>
          </a:xfrm>
          <a:prstGeom prst="ellipse">
            <a:avLst/>
          </a:prstGeom>
          <a:solidFill>
            <a:srgbClr val="3B4A8C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6" name="Text 14"/>
          <p:cNvSpPr/>
          <p:nvPr/>
        </p:nvSpPr>
        <p:spPr>
          <a:xfrm>
            <a:off x="11411712" y="190195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0080" y="1965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AUTOMATIZACIÓN E IA AGÉNTICA · N8N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21792" y="2331720"/>
            <a:ext cx="84124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Automatización del seguimiento</a:t>
            </a:r>
            <a:endParaRPr lang="en-US" sz="4000" dirty="0"/>
          </a:p>
          <a:p>
            <a:pPr marL="0" indent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presupuestos con IA</a:t>
            </a:r>
            <a:endParaRPr lang="en-US" sz="4000" dirty="0"/>
          </a:p>
        </p:txBody>
      </p:sp>
      <p:sp>
        <p:nvSpPr>
          <p:cNvPr id="19" name="Text 17"/>
          <p:cNvSpPr/>
          <p:nvPr/>
        </p:nvSpPr>
        <p:spPr>
          <a:xfrm>
            <a:off x="640080" y="406908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450" i="1" dirty="0">
                <a:solidFill>
                  <a:srgbClr val="CF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un proceso 100% manual a un sistema de 3 workflows con IA que clasifica</a:t>
            </a:r>
            <a:endParaRPr lang="en-US" sz="145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450" i="1" dirty="0">
                <a:solidFill>
                  <a:srgbClr val="CF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respuestas de clientes en lenguaje natural.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640080" y="5074920"/>
            <a:ext cx="201168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1" name="Text 19"/>
          <p:cNvSpPr/>
          <p:nvPr/>
        </p:nvSpPr>
        <p:spPr>
          <a:xfrm>
            <a:off x="640080" y="52120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Final Integrador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40080" y="55321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AA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Diplomatura en Diseño de Procesos de Negocios con Plataformas Visuales</a:t>
            </a:r>
            <a:endParaRPr lang="en-US" sz="11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AA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Automatización e Inteligencia Artificial (IA) Agéntica · FCE-UBA · Cohorte 2026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40080" y="619963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Lucas Vázquez Fernández – Alejo Martin Palacios – Lucas Grunow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qué este proceso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64592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INTRODUCCIÓN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644652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12700">
            <a:solidFill>
              <a:srgbClr val="E2E8EF"/>
            </a:solidFill>
            <a:prstDash val="solid"/>
          </a:ln>
          <a:effectLst>
            <a:outerShdw blurRad="101600" dist="25400" dir="5400000" algn="bl" rotWithShape="0">
              <a:srgbClr val="1F2937">
                <a:alpha val="12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5" name="Text 3"/>
          <p:cNvSpPr/>
          <p:nvPr/>
        </p:nvSpPr>
        <p:spPr>
          <a:xfrm>
            <a:off x="868680" y="1463040"/>
            <a:ext cx="5852160" cy="1874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4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</a:t>
            </a:r>
            <a:r>
              <a:rPr lang="en-US" sz="1400" i="1" dirty="0" err="1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Elegimos</a:t>
            </a:r>
            <a:r>
              <a:rPr lang="en-US" sz="14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este proceso porque </a:t>
            </a:r>
            <a:r>
              <a:rPr lang="en-US" sz="1400" b="1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100% manual, propenso a olvidos y depende de que una persona revise la casilla de mail todo el día</a:t>
            </a:r>
            <a:r>
              <a:rPr lang="en-US" sz="14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el seguimiento de presupuestos de reparación es un cuello de botella típico de un taller técnico, y es un caso claro donde automatización + IA agregan valor real sin necesitar infraestructura compleja.”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3749040"/>
            <a:ext cx="6446520" cy="2331720"/>
          </a:xfrm>
          <a:prstGeom prst="roundRect">
            <a:avLst>
              <a:gd name="adj" fmla="val 3922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7" name="Text 5"/>
          <p:cNvSpPr/>
          <p:nvPr/>
        </p:nvSpPr>
        <p:spPr>
          <a:xfrm>
            <a:off x="822960" y="3931920"/>
            <a:ext cx="5852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de estudio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4206240"/>
            <a:ext cx="5852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Taller de reparación de electrodomésticos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22960" y="4617720"/>
            <a:ext cx="5852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CF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proceso arranca justo después del diagnóstico técnico y el armado del</a:t>
            </a:r>
            <a:endParaRPr lang="en-US" sz="125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CF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presupuesto — el punto exacto donde hoy se pierde control y trazabilidad.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269480" y="1234440"/>
            <a:ext cx="4370832" cy="4846320"/>
          </a:xfrm>
          <a:prstGeom prst="roundRect">
            <a:avLst>
              <a:gd name="adj" fmla="val 2092"/>
            </a:avLst>
          </a:prstGeom>
          <a:solidFill>
            <a:srgbClr val="FFFFFF"/>
          </a:solidFill>
          <a:ln w="12700">
            <a:solidFill>
              <a:srgbClr val="E2E8EF"/>
            </a:solidFill>
            <a:prstDash val="solid"/>
          </a:ln>
          <a:effectLst>
            <a:outerShdw blurRad="101600" dist="25400" dir="5400000" algn="bl" rotWithShape="0">
              <a:srgbClr val="1F2937">
                <a:alpha val="12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11" name="Text 9"/>
          <p:cNvSpPr/>
          <p:nvPr/>
        </p:nvSpPr>
        <p:spPr>
          <a:xfrm>
            <a:off x="7543800" y="141732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Objetivos de la mejora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543800" y="1920240"/>
            <a:ext cx="310896" cy="310896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3" name="Text 11"/>
          <p:cNvSpPr/>
          <p:nvPr/>
        </p:nvSpPr>
        <p:spPr>
          <a:xfrm>
            <a:off x="7543800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973568" y="1901952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Automatizar el envío de presupuestos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543800" y="2606040"/>
            <a:ext cx="310896" cy="310896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6" name="Text 14"/>
          <p:cNvSpPr/>
          <p:nvPr/>
        </p:nvSpPr>
        <p:spPr>
          <a:xfrm>
            <a:off x="7543800" y="26060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973568" y="2587752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Automatizar el seguimiento y los recordatorios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543800" y="3291840"/>
            <a:ext cx="310896" cy="310896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9" name="Text 17"/>
          <p:cNvSpPr/>
          <p:nvPr/>
        </p:nvSpPr>
        <p:spPr>
          <a:xfrm>
            <a:off x="7543800" y="32918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973568" y="3273552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Centralizar todo en una única planilla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543800" y="3977640"/>
            <a:ext cx="310896" cy="310896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22" name="Text 20"/>
          <p:cNvSpPr/>
          <p:nvPr/>
        </p:nvSpPr>
        <p:spPr>
          <a:xfrm>
            <a:off x="7543800" y="39776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973568" y="3959352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Reducir tareas repetitivas del área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543800" y="4663440"/>
            <a:ext cx="310896" cy="310896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25" name="Text 23"/>
          <p:cNvSpPr/>
          <p:nvPr/>
        </p:nvSpPr>
        <p:spPr>
          <a:xfrm>
            <a:off x="7543800" y="46634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973568" y="4645152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 IA solo donde agrega valor real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7543800" y="5349240"/>
            <a:ext cx="310896" cy="310896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28" name="Text 26"/>
          <p:cNvSpPr/>
          <p:nvPr/>
        </p:nvSpPr>
        <p:spPr>
          <a:xfrm>
            <a:off x="7543800" y="5349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7973568" y="5330952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Mantener una solución simple y explicable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Final Integrador · Diplomatura en Diseño de Procesos de Negocios · FCE-UBA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proceso, antes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64592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SITUACIÓN INICIAL · AS-IS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69164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5875">
            <a:solidFill>
              <a:srgbClr val="D7E1E8"/>
            </a:solidFill>
            <a:prstDash val="solid"/>
          </a:ln>
          <a:effectLst>
            <a:outerShdw blurRad="76200" dist="25400" dir="5400000" algn="bl" rotWithShape="0">
              <a:srgbClr val="1F2937">
                <a:alpha val="18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5" name="Text 3"/>
          <p:cNvSpPr/>
          <p:nvPr/>
        </p:nvSpPr>
        <p:spPr>
          <a:xfrm>
            <a:off x="621792" y="1737360"/>
            <a:ext cx="154533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Técnico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diagnostica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258568" y="2281428"/>
            <a:ext cx="164592" cy="146304"/>
          </a:xfrm>
          <a:prstGeom prst="rightArrow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7" name="Shape 5"/>
          <p:cNvSpPr/>
          <p:nvPr/>
        </p:nvSpPr>
        <p:spPr>
          <a:xfrm>
            <a:off x="2441448" y="1737360"/>
            <a:ext cx="169164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5875">
            <a:solidFill>
              <a:srgbClr val="D7E1E8"/>
            </a:solidFill>
            <a:prstDash val="solid"/>
          </a:ln>
          <a:effectLst>
            <a:outerShdw blurRad="76200" dist="25400" dir="5400000" algn="bl" rotWithShape="0">
              <a:srgbClr val="1F2937">
                <a:alpha val="18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8" name="Text 6"/>
          <p:cNvSpPr/>
          <p:nvPr/>
        </p:nvSpPr>
        <p:spPr>
          <a:xfrm>
            <a:off x="2514600" y="1737360"/>
            <a:ext cx="154533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Admin. arma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presupuesto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151376" y="2281428"/>
            <a:ext cx="164592" cy="146304"/>
          </a:xfrm>
          <a:prstGeom prst="rightArrow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0" name="Shape 8"/>
          <p:cNvSpPr/>
          <p:nvPr/>
        </p:nvSpPr>
        <p:spPr>
          <a:xfrm>
            <a:off x="4334256" y="1737360"/>
            <a:ext cx="1691640" cy="1234440"/>
          </a:xfrm>
          <a:prstGeom prst="roundRect">
            <a:avLst>
              <a:gd name="adj" fmla="val 6667"/>
            </a:avLst>
          </a:prstGeom>
          <a:solidFill>
            <a:srgbClr val="FDEDEA"/>
          </a:solidFill>
          <a:ln w="15875">
            <a:solidFill>
              <a:srgbClr val="B23A2F"/>
            </a:solidFill>
            <a:prstDash val="solid"/>
          </a:ln>
          <a:effectLst>
            <a:outerShdw blurRad="76200" dist="25400" dir="5400000" algn="bl" rotWithShape="0">
              <a:srgbClr val="1F2937">
                <a:alpha val="18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11" name="Text 9"/>
          <p:cNvSpPr/>
          <p:nvPr/>
        </p:nvSpPr>
        <p:spPr>
          <a:xfrm>
            <a:off x="4407408" y="1737360"/>
            <a:ext cx="154533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B2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Envío manual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B2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mail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814316" y="1481328"/>
            <a:ext cx="731520" cy="274320"/>
          </a:xfrm>
          <a:prstGeom prst="roundRect">
            <a:avLst>
              <a:gd name="adj" fmla="val 50000"/>
            </a:avLst>
          </a:prstGeom>
          <a:solidFill>
            <a:srgbClr val="B23A2F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3" name="Text 11"/>
          <p:cNvSpPr/>
          <p:nvPr/>
        </p:nvSpPr>
        <p:spPr>
          <a:xfrm>
            <a:off x="4814316" y="148132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044184" y="2281428"/>
            <a:ext cx="164592" cy="146304"/>
          </a:xfrm>
          <a:prstGeom prst="rightArrow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5" name="Shape 13"/>
          <p:cNvSpPr/>
          <p:nvPr/>
        </p:nvSpPr>
        <p:spPr>
          <a:xfrm>
            <a:off x="6227064" y="1737360"/>
            <a:ext cx="1691640" cy="1234440"/>
          </a:xfrm>
          <a:prstGeom prst="roundRect">
            <a:avLst>
              <a:gd name="adj" fmla="val 6667"/>
            </a:avLst>
          </a:prstGeom>
          <a:solidFill>
            <a:srgbClr val="FDEDEA"/>
          </a:solidFill>
          <a:ln w="15875">
            <a:solidFill>
              <a:srgbClr val="B23A2F"/>
            </a:solidFill>
            <a:prstDash val="solid"/>
          </a:ln>
          <a:effectLst>
            <a:outerShdw blurRad="76200" dist="25400" dir="5400000" algn="bl" rotWithShape="0">
              <a:srgbClr val="1F2937">
                <a:alpha val="18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16" name="Text 14"/>
          <p:cNvSpPr/>
          <p:nvPr/>
        </p:nvSpPr>
        <p:spPr>
          <a:xfrm>
            <a:off x="6300216" y="1737360"/>
            <a:ext cx="154533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B2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Espera y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B2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revisión manual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B2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bandeja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707124" y="1481328"/>
            <a:ext cx="731520" cy="274320"/>
          </a:xfrm>
          <a:prstGeom prst="roundRect">
            <a:avLst>
              <a:gd name="adj" fmla="val 50000"/>
            </a:avLst>
          </a:prstGeom>
          <a:solidFill>
            <a:srgbClr val="B23A2F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8" name="Text 16"/>
          <p:cNvSpPr/>
          <p:nvPr/>
        </p:nvSpPr>
        <p:spPr>
          <a:xfrm>
            <a:off x="6707124" y="148132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7936992" y="2281428"/>
            <a:ext cx="164592" cy="146304"/>
          </a:xfrm>
          <a:prstGeom prst="rightArrow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20" name="Shape 18"/>
          <p:cNvSpPr/>
          <p:nvPr/>
        </p:nvSpPr>
        <p:spPr>
          <a:xfrm>
            <a:off x="8119872" y="1737360"/>
            <a:ext cx="1691640" cy="1234440"/>
          </a:xfrm>
          <a:prstGeom prst="roundRect">
            <a:avLst>
              <a:gd name="adj" fmla="val 6667"/>
            </a:avLst>
          </a:prstGeom>
          <a:solidFill>
            <a:srgbClr val="FDEDEA"/>
          </a:solidFill>
          <a:ln w="15875">
            <a:solidFill>
              <a:srgbClr val="B23A2F"/>
            </a:solidFill>
            <a:prstDash val="solid"/>
          </a:ln>
          <a:effectLst>
            <a:outerShdw blurRad="76200" dist="25400" dir="5400000" algn="bl" rotWithShape="0">
              <a:srgbClr val="1F2937">
                <a:alpha val="18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21" name="Text 19"/>
          <p:cNvSpPr/>
          <p:nvPr/>
        </p:nvSpPr>
        <p:spPr>
          <a:xfrm>
            <a:off x="8193024" y="1737360"/>
            <a:ext cx="154533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B2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Actualización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B2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del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B2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8599932" y="1481328"/>
            <a:ext cx="731520" cy="274320"/>
          </a:xfrm>
          <a:prstGeom prst="roundRect">
            <a:avLst>
              <a:gd name="adj" fmla="val 50000"/>
            </a:avLst>
          </a:prstGeom>
          <a:solidFill>
            <a:srgbClr val="B23A2F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23" name="Text 21"/>
          <p:cNvSpPr/>
          <p:nvPr/>
        </p:nvSpPr>
        <p:spPr>
          <a:xfrm>
            <a:off x="8599932" y="148132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9829800" y="2281428"/>
            <a:ext cx="164592" cy="146304"/>
          </a:xfrm>
          <a:prstGeom prst="rightArrow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25" name="Shape 23"/>
          <p:cNvSpPr/>
          <p:nvPr/>
        </p:nvSpPr>
        <p:spPr>
          <a:xfrm>
            <a:off x="10012680" y="1737360"/>
            <a:ext cx="1691640" cy="1234440"/>
          </a:xfrm>
          <a:prstGeom prst="roundRect">
            <a:avLst>
              <a:gd name="adj" fmla="val 6667"/>
            </a:avLst>
          </a:prstGeom>
          <a:solidFill>
            <a:srgbClr val="FDEDEA"/>
          </a:solidFill>
          <a:ln w="15875">
            <a:solidFill>
              <a:srgbClr val="B23A2F"/>
            </a:solidFill>
            <a:prstDash val="solid"/>
          </a:ln>
          <a:effectLst>
            <a:outerShdw blurRad="76200" dist="25400" dir="5400000" algn="bl" rotWithShape="0">
              <a:srgbClr val="1F2937">
                <a:alpha val="18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26" name="Text 24"/>
          <p:cNvSpPr/>
          <p:nvPr/>
        </p:nvSpPr>
        <p:spPr>
          <a:xfrm>
            <a:off x="10085832" y="1737360"/>
            <a:ext cx="154533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B2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Recordatorio /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B2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vencimiento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B2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10492740" y="1481328"/>
            <a:ext cx="731520" cy="274320"/>
          </a:xfrm>
          <a:prstGeom prst="roundRect">
            <a:avLst>
              <a:gd name="adj" fmla="val 50000"/>
            </a:avLst>
          </a:prstGeom>
          <a:solidFill>
            <a:srgbClr val="B23A2F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28" name="Text 26"/>
          <p:cNvSpPr/>
          <p:nvPr/>
        </p:nvSpPr>
        <p:spPr>
          <a:xfrm>
            <a:off x="10492740" y="148132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48640" y="3429000"/>
            <a:ext cx="11064240" cy="260604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E2E8E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0" name="Text 28"/>
          <p:cNvSpPr/>
          <p:nvPr/>
        </p:nvSpPr>
        <p:spPr>
          <a:xfrm>
            <a:off x="868680" y="36118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Fricciones detectadas en el proceso manual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868680" y="4114800"/>
            <a:ext cx="100584" cy="100584"/>
          </a:xfrm>
          <a:prstGeom prst="ellipse">
            <a:avLst/>
          </a:prstGeom>
          <a:solidFill>
            <a:srgbClr val="B23A2F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32" name="Text 30"/>
          <p:cNvSpPr/>
          <p:nvPr/>
        </p:nvSpPr>
        <p:spPr>
          <a:xfrm>
            <a:off x="1124712" y="3995928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Dependencia total de tareas manuales y de la memoria del empleado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6263640" y="4114800"/>
            <a:ext cx="100584" cy="100584"/>
          </a:xfrm>
          <a:prstGeom prst="ellipse">
            <a:avLst/>
          </a:prstGeom>
          <a:solidFill>
            <a:srgbClr val="B23A2F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34" name="Text 32"/>
          <p:cNvSpPr/>
          <p:nvPr/>
        </p:nvSpPr>
        <p:spPr>
          <a:xfrm>
            <a:off x="6519672" y="3995928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 de olvidar enviar presupuestos o hacer el seguimiento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868680" y="4709160"/>
            <a:ext cx="100584" cy="100584"/>
          </a:xfrm>
          <a:prstGeom prst="ellipse">
            <a:avLst/>
          </a:prstGeom>
          <a:solidFill>
            <a:srgbClr val="B23A2F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36" name="Text 34"/>
          <p:cNvSpPr/>
          <p:nvPr/>
        </p:nvSpPr>
        <p:spPr>
          <a:xfrm>
            <a:off x="1124712" y="4590288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Dificultad para controlar un volumen alto de correos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6263640" y="4709160"/>
            <a:ext cx="100584" cy="100584"/>
          </a:xfrm>
          <a:prstGeom prst="ellipse">
            <a:avLst/>
          </a:prstGeom>
          <a:solidFill>
            <a:srgbClr val="B23A2F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38" name="Text 36"/>
          <p:cNvSpPr/>
          <p:nvPr/>
        </p:nvSpPr>
        <p:spPr>
          <a:xfrm>
            <a:off x="6519672" y="4590288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Posibilidad concreta de perder respuestas de clientes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868680" y="5303520"/>
            <a:ext cx="100584" cy="100584"/>
          </a:xfrm>
          <a:prstGeom prst="ellipse">
            <a:avLst/>
          </a:prstGeom>
          <a:solidFill>
            <a:srgbClr val="B23A2F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40" name="Text 38"/>
          <p:cNvSpPr/>
          <p:nvPr/>
        </p:nvSpPr>
        <p:spPr>
          <a:xfrm>
            <a:off x="1124712" y="5184648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Ausencia de un estado centralizado del proceso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6263640" y="5303520"/>
            <a:ext cx="100584" cy="100584"/>
          </a:xfrm>
          <a:prstGeom prst="ellipse">
            <a:avLst/>
          </a:prstGeom>
          <a:solidFill>
            <a:srgbClr val="B23A2F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42" name="Text 40"/>
          <p:cNvSpPr/>
          <p:nvPr/>
        </p:nvSpPr>
        <p:spPr>
          <a:xfrm>
            <a:off x="6519672" y="5184648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 administrativo elevado y escasa trazabilidad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Final Integrador · Diplomatura en Diseño de Procesos de Negocios · FCE-UBA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Alternativas analizadas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64592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 DE DISEÑO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B2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DESCARTADAS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548640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5875">
            <a:solidFill>
              <a:srgbClr val="F1D3CE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6" name="Shape 4"/>
          <p:cNvSpPr/>
          <p:nvPr/>
        </p:nvSpPr>
        <p:spPr>
          <a:xfrm>
            <a:off x="777240" y="1783080"/>
            <a:ext cx="365760" cy="365760"/>
          </a:xfrm>
          <a:prstGeom prst="ellipse">
            <a:avLst/>
          </a:prstGeom>
          <a:solidFill>
            <a:srgbClr val="FDEDEA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7" name="Text 5"/>
          <p:cNvSpPr/>
          <p:nvPr/>
        </p:nvSpPr>
        <p:spPr>
          <a:xfrm>
            <a:off x="777240" y="1783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B2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25880" y="173736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datos dedicada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325880" y="2075688"/>
            <a:ext cx="4526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10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Agrega complejidad de infraestructura innecesaria para el volumen del proceso.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48640" y="3017520"/>
            <a:ext cx="548640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5875">
            <a:solidFill>
              <a:srgbClr val="F1D3CE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1" name="Shape 9"/>
          <p:cNvSpPr/>
          <p:nvPr/>
        </p:nvSpPr>
        <p:spPr>
          <a:xfrm>
            <a:off x="777240" y="3200400"/>
            <a:ext cx="365760" cy="365760"/>
          </a:xfrm>
          <a:prstGeom prst="ellipse">
            <a:avLst/>
          </a:prstGeom>
          <a:solidFill>
            <a:srgbClr val="FDEDEA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2" name="Text 10"/>
          <p:cNvSpPr/>
          <p:nvPr/>
        </p:nvSpPr>
        <p:spPr>
          <a:xfrm>
            <a:off x="777240" y="32004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B2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325880" y="315468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Airtable / Data Tables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325880" y="3493008"/>
            <a:ext cx="4526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10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aporta ventajas significativas frente a Google Sheets para este caso.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48640" y="4434840"/>
            <a:ext cx="548640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5875">
            <a:solidFill>
              <a:srgbClr val="F1D3CE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6" name="Shape 14"/>
          <p:cNvSpPr/>
          <p:nvPr/>
        </p:nvSpPr>
        <p:spPr>
          <a:xfrm>
            <a:off x="777240" y="4617720"/>
            <a:ext cx="365760" cy="365760"/>
          </a:xfrm>
          <a:prstGeom prst="ellipse">
            <a:avLst/>
          </a:prstGeom>
          <a:solidFill>
            <a:srgbClr val="FDEDEA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7" name="Text 15"/>
          <p:cNvSpPr/>
          <p:nvPr/>
        </p:nvSpPr>
        <p:spPr>
          <a:xfrm>
            <a:off x="777240" y="4617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B2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325880" y="457200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único workflow gigante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325880" y="4910328"/>
            <a:ext cx="4526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10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Dificulta el mantenimiento, mezcla responsabilidades y complica la lectura.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400800" y="123444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E7D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ELEGIDA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400800" y="1600200"/>
            <a:ext cx="5257800" cy="4892040"/>
          </a:xfrm>
          <a:prstGeom prst="roundRect">
            <a:avLst>
              <a:gd name="adj" fmla="val 2243"/>
            </a:avLst>
          </a:prstGeom>
          <a:solidFill>
            <a:srgbClr val="065A82"/>
          </a:solidFill>
          <a:ln/>
          <a:effectLst>
            <a:outerShdw blurRad="127000" dist="38100" dir="5400000" algn="bl" rotWithShape="0">
              <a:srgbClr val="1F2937">
                <a:alpha val="20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22" name="Shape 20"/>
          <p:cNvSpPr/>
          <p:nvPr/>
        </p:nvSpPr>
        <p:spPr>
          <a:xfrm>
            <a:off x="6720840" y="187452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23" name="Text 21"/>
          <p:cNvSpPr/>
          <p:nvPr/>
        </p:nvSpPr>
        <p:spPr>
          <a:xfrm>
            <a:off x="672084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7315200" y="1901952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Tres workflows independientes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720840" y="242316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F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uno con una responsabilidad específica y clara.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720840" y="3017520"/>
            <a:ext cx="4617720" cy="1078992"/>
          </a:xfrm>
          <a:prstGeom prst="roundRect">
            <a:avLst>
              <a:gd name="adj" fmla="val 6780"/>
            </a:avLst>
          </a:prstGeom>
          <a:solidFill>
            <a:srgbClr val="1A5C82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27" name="Text 25"/>
          <p:cNvSpPr/>
          <p:nvPr/>
        </p:nvSpPr>
        <p:spPr>
          <a:xfrm>
            <a:off x="6903720" y="310896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9FE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Mantenimiento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6903720" y="3401568"/>
            <a:ext cx="4206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CF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workflow se corrige y actualiza sin tocar los demás.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720840" y="4187952"/>
            <a:ext cx="4617720" cy="1078992"/>
          </a:xfrm>
          <a:prstGeom prst="roundRect">
            <a:avLst>
              <a:gd name="adj" fmla="val 6780"/>
            </a:avLst>
          </a:prstGeom>
          <a:solidFill>
            <a:srgbClr val="1A5C82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30" name="Text 28"/>
          <p:cNvSpPr/>
          <p:nvPr/>
        </p:nvSpPr>
        <p:spPr>
          <a:xfrm>
            <a:off x="6903720" y="4279392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9FE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Comprensión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6903720" y="4572000"/>
            <a:ext cx="4206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CF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explica y se demuestra por separado, fácil de auditar.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720840" y="5358384"/>
            <a:ext cx="4617720" cy="1078992"/>
          </a:xfrm>
          <a:prstGeom prst="roundRect">
            <a:avLst>
              <a:gd name="adj" fmla="val 6780"/>
            </a:avLst>
          </a:prstGeom>
          <a:solidFill>
            <a:srgbClr val="1A5C82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33" name="Text 31"/>
          <p:cNvSpPr/>
          <p:nvPr/>
        </p:nvSpPr>
        <p:spPr>
          <a:xfrm>
            <a:off x="6903720" y="5449824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9FE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Reutilización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6903720" y="5742432"/>
            <a:ext cx="4206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CF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pieza (envío, seguimiento, respuesta) es reusable en otros procesos similares.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Final Integrador · Diplomatura en Diseño de Procesos de Negocios · FCE-UBA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Arquitectura final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64592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PROCESO, AHORA · TO-BE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C7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Sheets actúa como fuente única de verdad de todo el proceso.</a:t>
            </a:r>
            <a:endParaRPr lang="en-US" sz="13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C7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n8n orquesta la comunicación entre las demás herramientas.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 flipV="1">
            <a:off x="8595360" y="2370125"/>
            <a:ext cx="9144" cy="1424635"/>
          </a:xfrm>
          <a:prstGeom prst="line">
            <a:avLst/>
          </a:prstGeom>
          <a:noFill/>
          <a:ln w="22225">
            <a:solidFill>
              <a:srgbClr val="3B4A72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6" name="Shape 4"/>
          <p:cNvSpPr/>
          <p:nvPr/>
        </p:nvSpPr>
        <p:spPr>
          <a:xfrm flipV="1">
            <a:off x="8595360" y="3354524"/>
            <a:ext cx="1652328" cy="440236"/>
          </a:xfrm>
          <a:prstGeom prst="line">
            <a:avLst/>
          </a:prstGeom>
          <a:noFill/>
          <a:ln w="22225">
            <a:solidFill>
              <a:srgbClr val="3B4A72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7" name="Shape 5"/>
          <p:cNvSpPr/>
          <p:nvPr/>
        </p:nvSpPr>
        <p:spPr>
          <a:xfrm>
            <a:off x="8595360" y="3794760"/>
            <a:ext cx="1021195" cy="1152554"/>
          </a:xfrm>
          <a:prstGeom prst="line">
            <a:avLst/>
          </a:prstGeom>
          <a:noFill/>
          <a:ln w="22225">
            <a:solidFill>
              <a:srgbClr val="3B4A72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8" name="Shape 6"/>
          <p:cNvSpPr/>
          <p:nvPr/>
        </p:nvSpPr>
        <p:spPr>
          <a:xfrm flipV="1">
            <a:off x="7837714" y="4306824"/>
            <a:ext cx="309590" cy="320040"/>
          </a:xfrm>
          <a:prstGeom prst="line">
            <a:avLst/>
          </a:prstGeom>
          <a:noFill/>
          <a:ln w="22225">
            <a:solidFill>
              <a:srgbClr val="3B4A72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9" name="Shape 7"/>
          <p:cNvSpPr/>
          <p:nvPr/>
        </p:nvSpPr>
        <p:spPr>
          <a:xfrm flipV="1">
            <a:off x="6943032" y="3354524"/>
            <a:ext cx="1652328" cy="440236"/>
          </a:xfrm>
          <a:prstGeom prst="line">
            <a:avLst/>
          </a:prstGeom>
          <a:noFill/>
          <a:ln w="22225">
            <a:solidFill>
              <a:srgbClr val="3B4A72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0" name="Shape 8"/>
          <p:cNvSpPr/>
          <p:nvPr/>
        </p:nvSpPr>
        <p:spPr>
          <a:xfrm>
            <a:off x="8092440" y="1867205"/>
            <a:ext cx="1005840" cy="1005840"/>
          </a:xfrm>
          <a:prstGeom prst="ellipse">
            <a:avLst/>
          </a:prstGeom>
          <a:solidFill>
            <a:srgbClr val="2E7D45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1" name="Text 9"/>
          <p:cNvSpPr/>
          <p:nvPr/>
        </p:nvSpPr>
        <p:spPr>
          <a:xfrm>
            <a:off x="8092440" y="1867205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092440" y="1867205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</a:t>
            </a:r>
            <a:endParaRPr lang="en-US" sz="1050" dirty="0"/>
          </a:p>
          <a:p>
            <a:pPr marL="0" indent="0" algn="ctr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Sheets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9744768" y="2851604"/>
            <a:ext cx="1005840" cy="1005840"/>
          </a:xfrm>
          <a:prstGeom prst="ellipse">
            <a:avLst/>
          </a:prstGeom>
          <a:solidFill>
            <a:srgbClr val="B23A2F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4" name="Text 12"/>
          <p:cNvSpPr/>
          <p:nvPr/>
        </p:nvSpPr>
        <p:spPr>
          <a:xfrm>
            <a:off x="9744768" y="2851604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744768" y="2851604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Gmail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9113635" y="4444394"/>
            <a:ext cx="1005840" cy="100584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7" name="Text 15"/>
          <p:cNvSpPr/>
          <p:nvPr/>
        </p:nvSpPr>
        <p:spPr>
          <a:xfrm>
            <a:off x="9113635" y="4444394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113635" y="4444394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Telegram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071245" y="4444394"/>
            <a:ext cx="1005840" cy="1005840"/>
          </a:xfrm>
          <a:prstGeom prst="ellipse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20" name="Text 18"/>
          <p:cNvSpPr/>
          <p:nvPr/>
        </p:nvSpPr>
        <p:spPr>
          <a:xfrm>
            <a:off x="7071245" y="4444394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071245" y="4444394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</a:t>
            </a:r>
            <a:endParaRPr lang="en-US" sz="1050" dirty="0"/>
          </a:p>
          <a:p>
            <a:pPr marL="0" indent="0" algn="ctr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440112" y="2851604"/>
            <a:ext cx="1005840" cy="1005840"/>
          </a:xfrm>
          <a:prstGeom prst="ellipse">
            <a:avLst/>
          </a:prstGeom>
          <a:solidFill>
            <a:srgbClr val="C77700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23" name="Text 21"/>
          <p:cNvSpPr/>
          <p:nvPr/>
        </p:nvSpPr>
        <p:spPr>
          <a:xfrm>
            <a:off x="6440112" y="2851604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440112" y="2851604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Webhook /</a:t>
            </a:r>
            <a:endParaRPr lang="en-US" sz="1050" dirty="0"/>
          </a:p>
          <a:p>
            <a:pPr marL="0" indent="0" algn="ctr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7909560" y="3108960"/>
            <a:ext cx="1371600" cy="137160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26" name="Text 24"/>
          <p:cNvSpPr/>
          <p:nvPr/>
        </p:nvSpPr>
        <p:spPr>
          <a:xfrm>
            <a:off x="7909560" y="310896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n8n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548640" y="233172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Sheets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548640" y="260604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 única de verdad · estado del proceso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48640" y="3081528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Gmail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548640" y="3355848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Envío de presupuestos y recepción de respuestas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548640" y="3831336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Telegram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548640" y="4105656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Notificaciones internas a Administración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548640" y="4581144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Gemini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548640" y="4855464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 el lenguaje natural del cliente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Final Integrador · Diplomatura en Diseño de Procesos de Negocios · FCE-UBA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Estados del proceso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64592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ÚNICA FUENTE DE VERDAD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definieron únicamente los estados necesarios — nada de estados adicionales que no aporten al negocio.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1874520" cy="777240"/>
          </a:xfrm>
          <a:prstGeom prst="roundRect">
            <a:avLst>
              <a:gd name="adj" fmla="val 10588"/>
            </a:avLst>
          </a:prstGeom>
          <a:solidFill>
            <a:srgbClr val="EAF1F6"/>
          </a:solidFill>
          <a:ln w="15875">
            <a:solidFill>
              <a:srgbClr val="065A82"/>
            </a:solidFill>
            <a:prstDash val="solid"/>
          </a:ln>
          <a:effectLst>
            <a:outerShdw blurRad="76200" dist="25400" dir="5400000" algn="bl" rotWithShape="0">
              <a:srgbClr val="1F2937">
                <a:alpha val="18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6" name="Text 4"/>
          <p:cNvSpPr/>
          <p:nvPr/>
        </p:nvSpPr>
        <p:spPr>
          <a:xfrm>
            <a:off x="621792" y="1828800"/>
            <a:ext cx="17282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Listo para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enviar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450592" y="2148840"/>
            <a:ext cx="502920" cy="146304"/>
          </a:xfrm>
          <a:prstGeom prst="rightArrow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8" name="Shape 6"/>
          <p:cNvSpPr/>
          <p:nvPr/>
        </p:nvSpPr>
        <p:spPr>
          <a:xfrm>
            <a:off x="2980944" y="1828800"/>
            <a:ext cx="1874520" cy="777240"/>
          </a:xfrm>
          <a:prstGeom prst="roundRect">
            <a:avLst>
              <a:gd name="adj" fmla="val 10588"/>
            </a:avLst>
          </a:prstGeom>
          <a:solidFill>
            <a:srgbClr val="E4EEF5"/>
          </a:solidFill>
          <a:ln w="15875">
            <a:solidFill>
              <a:srgbClr val="1C7293"/>
            </a:solidFill>
            <a:prstDash val="solid"/>
          </a:ln>
          <a:effectLst>
            <a:outerShdw blurRad="76200" dist="25400" dir="5400000" algn="bl" rotWithShape="0">
              <a:srgbClr val="1F2937">
                <a:alpha val="18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9" name="Text 7"/>
          <p:cNvSpPr/>
          <p:nvPr/>
        </p:nvSpPr>
        <p:spPr>
          <a:xfrm>
            <a:off x="3054096" y="1828800"/>
            <a:ext cx="17282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Esperando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respuesta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913632" y="2606040"/>
            <a:ext cx="0" cy="50292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1" name="Shape 9"/>
          <p:cNvSpPr/>
          <p:nvPr/>
        </p:nvSpPr>
        <p:spPr>
          <a:xfrm>
            <a:off x="1344168" y="3108960"/>
            <a:ext cx="4937760" cy="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2" name="Shape 10"/>
          <p:cNvSpPr/>
          <p:nvPr/>
        </p:nvSpPr>
        <p:spPr>
          <a:xfrm>
            <a:off x="1344168" y="3108960"/>
            <a:ext cx="0" cy="365760"/>
          </a:xfrm>
          <a:prstGeom prst="line">
            <a:avLst/>
          </a:prstGeom>
          <a:noFill/>
          <a:ln w="19050">
            <a:solidFill>
              <a:srgbClr val="2E7D45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3" name="Shape 11"/>
          <p:cNvSpPr/>
          <p:nvPr/>
        </p:nvSpPr>
        <p:spPr>
          <a:xfrm>
            <a:off x="548640" y="3474720"/>
            <a:ext cx="1600200" cy="777240"/>
          </a:xfrm>
          <a:prstGeom prst="roundRect">
            <a:avLst>
              <a:gd name="adj" fmla="val 10588"/>
            </a:avLst>
          </a:prstGeom>
          <a:solidFill>
            <a:srgbClr val="FFFFFF"/>
          </a:solidFill>
          <a:ln w="15875">
            <a:solidFill>
              <a:srgbClr val="2E7D45"/>
            </a:solidFill>
            <a:prstDash val="solid"/>
          </a:ln>
          <a:effectLst>
            <a:outerShdw blurRad="76200" dist="25400" dir="5400000" algn="bl" rotWithShape="0">
              <a:srgbClr val="1F2937">
                <a:alpha val="18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14" name="Text 12"/>
          <p:cNvSpPr/>
          <p:nvPr/>
        </p:nvSpPr>
        <p:spPr>
          <a:xfrm>
            <a:off x="621792" y="3474720"/>
            <a:ext cx="14538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E7D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Presupuesto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2E7D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aprobado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990088" y="3108960"/>
            <a:ext cx="0" cy="365760"/>
          </a:xfrm>
          <a:prstGeom prst="line">
            <a:avLst/>
          </a:prstGeom>
          <a:noFill/>
          <a:ln w="19050">
            <a:solidFill>
              <a:srgbClr val="B23A2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6" name="Shape 14"/>
          <p:cNvSpPr/>
          <p:nvPr/>
        </p:nvSpPr>
        <p:spPr>
          <a:xfrm>
            <a:off x="2194560" y="3474720"/>
            <a:ext cx="1600200" cy="777240"/>
          </a:xfrm>
          <a:prstGeom prst="roundRect">
            <a:avLst>
              <a:gd name="adj" fmla="val 10588"/>
            </a:avLst>
          </a:prstGeom>
          <a:solidFill>
            <a:srgbClr val="FFFFFF"/>
          </a:solidFill>
          <a:ln w="15875">
            <a:solidFill>
              <a:srgbClr val="B23A2F"/>
            </a:solidFill>
            <a:prstDash val="solid"/>
          </a:ln>
          <a:effectLst>
            <a:outerShdw blurRad="76200" dist="25400" dir="5400000" algn="bl" rotWithShape="0">
              <a:srgbClr val="1F2937">
                <a:alpha val="18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17" name="Text 15"/>
          <p:cNvSpPr/>
          <p:nvPr/>
        </p:nvSpPr>
        <p:spPr>
          <a:xfrm>
            <a:off x="2267712" y="3474720"/>
            <a:ext cx="14538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B2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Presupuesto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B2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rechazado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636008" y="3108960"/>
            <a:ext cx="0" cy="365760"/>
          </a:xfrm>
          <a:prstGeom prst="line">
            <a:avLst/>
          </a:prstGeom>
          <a:noFill/>
          <a:ln w="19050">
            <a:solidFill>
              <a:srgbClr val="C77700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9" name="Shape 17"/>
          <p:cNvSpPr/>
          <p:nvPr/>
        </p:nvSpPr>
        <p:spPr>
          <a:xfrm>
            <a:off x="3840480" y="3474720"/>
            <a:ext cx="1600200" cy="777240"/>
          </a:xfrm>
          <a:prstGeom prst="roundRect">
            <a:avLst>
              <a:gd name="adj" fmla="val 10588"/>
            </a:avLst>
          </a:prstGeom>
          <a:solidFill>
            <a:srgbClr val="FFFFFF"/>
          </a:solidFill>
          <a:ln w="15875">
            <a:solidFill>
              <a:srgbClr val="C77700"/>
            </a:solidFill>
            <a:prstDash val="solid"/>
          </a:ln>
          <a:effectLst>
            <a:outerShdw blurRad="76200" dist="25400" dir="5400000" algn="bl" rotWithShape="0">
              <a:srgbClr val="1F2937">
                <a:alpha val="18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20" name="Text 18"/>
          <p:cNvSpPr/>
          <p:nvPr/>
        </p:nvSpPr>
        <p:spPr>
          <a:xfrm>
            <a:off x="3913632" y="3474720"/>
            <a:ext cx="14538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C77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Pendiente gestión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C77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administrativa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281928" y="3108960"/>
            <a:ext cx="0" cy="36576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2" name="Shape 20"/>
          <p:cNvSpPr/>
          <p:nvPr/>
        </p:nvSpPr>
        <p:spPr>
          <a:xfrm>
            <a:off x="5486400" y="3474720"/>
            <a:ext cx="1600200" cy="777240"/>
          </a:xfrm>
          <a:prstGeom prst="roundRect">
            <a:avLst>
              <a:gd name="adj" fmla="val 10588"/>
            </a:avLst>
          </a:prstGeom>
          <a:solidFill>
            <a:srgbClr val="FFFFFF"/>
          </a:solidFill>
          <a:ln w="15875">
            <a:solidFill>
              <a:srgbClr val="6B7280"/>
            </a:solidFill>
            <a:prstDash val="solid"/>
          </a:ln>
          <a:effectLst>
            <a:outerShdw blurRad="76200" dist="25400" dir="5400000" algn="bl" rotWithShape="0">
              <a:srgbClr val="1F2937">
                <a:alpha val="18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23" name="Text 21"/>
          <p:cNvSpPr/>
          <p:nvPr/>
        </p:nvSpPr>
        <p:spPr>
          <a:xfrm>
            <a:off x="5559552" y="3474720"/>
            <a:ext cx="14538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Presupuesto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vencido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7498080" y="1783080"/>
            <a:ext cx="4160520" cy="4434840"/>
          </a:xfrm>
          <a:prstGeom prst="roundRect">
            <a:avLst>
              <a:gd name="adj" fmla="val 2198"/>
            </a:avLst>
          </a:prstGeom>
          <a:solidFill>
            <a:srgbClr val="FFFFFF"/>
          </a:solidFill>
          <a:ln w="12700">
            <a:solidFill>
              <a:srgbClr val="E2E8E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5" name="Text 23"/>
          <p:cNvSpPr/>
          <p:nvPr/>
        </p:nvSpPr>
        <p:spPr>
          <a:xfrm>
            <a:off x="7772400" y="19659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Qué dispara cada estado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7772400" y="2459736"/>
            <a:ext cx="109728" cy="109728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27" name="Text 25"/>
          <p:cNvSpPr/>
          <p:nvPr/>
        </p:nvSpPr>
        <p:spPr>
          <a:xfrm>
            <a:off x="8001000" y="2350008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Listo para enviar → Esperando respuesta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8001000" y="2624328"/>
            <a:ext cx="3520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1 envía el mail y actualiza la fecha de envío.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7772400" y="3392424"/>
            <a:ext cx="109728" cy="109728"/>
          </a:xfrm>
          <a:prstGeom prst="ellipse">
            <a:avLst/>
          </a:prstGeom>
          <a:solidFill>
            <a:srgbClr val="6B7280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30" name="Text 28"/>
          <p:cNvSpPr/>
          <p:nvPr/>
        </p:nvSpPr>
        <p:spPr>
          <a:xfrm>
            <a:off x="8001000" y="3282696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Esperando respuesta → Vencido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8001000" y="3557016"/>
            <a:ext cx="3520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2, a los 15 días sin respuesta.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7772400" y="4325112"/>
            <a:ext cx="109728" cy="109728"/>
          </a:xfrm>
          <a:prstGeom prst="ellipse">
            <a:avLst/>
          </a:prstGeom>
          <a:solidFill>
            <a:srgbClr val="2E7D45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33" name="Text 31"/>
          <p:cNvSpPr/>
          <p:nvPr/>
        </p:nvSpPr>
        <p:spPr>
          <a:xfrm>
            <a:off x="8001000" y="4215384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Esperando respuesta → Aprobado / Rechazado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8001000" y="4489704"/>
            <a:ext cx="3520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Botón del mail, o respuesta clasificada por Gemini.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7772400" y="5257800"/>
            <a:ext cx="109728" cy="109728"/>
          </a:xfrm>
          <a:prstGeom prst="ellipse">
            <a:avLst/>
          </a:prstGeom>
          <a:solidFill>
            <a:srgbClr val="C77700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36" name="Text 34"/>
          <p:cNvSpPr/>
          <p:nvPr/>
        </p:nvSpPr>
        <p:spPr>
          <a:xfrm>
            <a:off x="8001000" y="5148072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Esperando respuesta → Pendiente gestión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8001000" y="5422392"/>
            <a:ext cx="3520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detecta CONSULTA o respuesta INDETERMINADA.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Final Integrador · Diplomatura en Diseño de Procesos de Negocios · FCE-UBA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Workflow 1 · Envío automático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64592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TRES WORKFLOWS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9448495" y="502920"/>
            <a:ext cx="2194560" cy="274320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5" name="Text 3"/>
          <p:cNvSpPr/>
          <p:nvPr/>
        </p:nvSpPr>
        <p:spPr>
          <a:xfrm>
            <a:off x="9448495" y="5029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Disparador: cada 1 minuto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2103120"/>
            <a:ext cx="182880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5875">
            <a:solidFill>
              <a:srgbClr val="065A82"/>
            </a:solidFill>
            <a:prstDash val="solid"/>
          </a:ln>
          <a:effectLst>
            <a:outerShdw blurRad="76200" dist="25400" dir="5400000" algn="bl" rotWithShape="0">
              <a:srgbClr val="1F2937">
                <a:alpha val="18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7" name="Text 5"/>
          <p:cNvSpPr/>
          <p:nvPr/>
        </p:nvSpPr>
        <p:spPr>
          <a:xfrm>
            <a:off x="621792" y="2103120"/>
            <a:ext cx="168249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2084832"/>
            <a:ext cx="1828800" cy="73152"/>
          </a:xfrm>
          <a:prstGeom prst="round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9" name="Shape 7"/>
          <p:cNvSpPr/>
          <p:nvPr/>
        </p:nvSpPr>
        <p:spPr>
          <a:xfrm>
            <a:off x="2404872" y="2555748"/>
            <a:ext cx="265176" cy="146304"/>
          </a:xfrm>
          <a:prstGeom prst="rightArrow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0" name="Shape 8"/>
          <p:cNvSpPr/>
          <p:nvPr/>
        </p:nvSpPr>
        <p:spPr>
          <a:xfrm>
            <a:off x="2697480" y="2103120"/>
            <a:ext cx="182880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5875">
            <a:solidFill>
              <a:srgbClr val="1C7293"/>
            </a:solidFill>
            <a:prstDash val="solid"/>
          </a:ln>
          <a:effectLst>
            <a:outerShdw blurRad="76200" dist="25400" dir="5400000" algn="bl" rotWithShape="0">
              <a:srgbClr val="1F2937">
                <a:alpha val="18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11" name="Text 9"/>
          <p:cNvSpPr/>
          <p:nvPr/>
        </p:nvSpPr>
        <p:spPr>
          <a:xfrm>
            <a:off x="2770632" y="2103120"/>
            <a:ext cx="168249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Buscar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"Listo para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enviar"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2697480" y="2084832"/>
            <a:ext cx="1828800" cy="73152"/>
          </a:xfrm>
          <a:prstGeom prst="round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3" name="Shape 11"/>
          <p:cNvSpPr/>
          <p:nvPr/>
        </p:nvSpPr>
        <p:spPr>
          <a:xfrm>
            <a:off x="4553712" y="2555748"/>
            <a:ext cx="265176" cy="146304"/>
          </a:xfrm>
          <a:prstGeom prst="rightArrow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4" name="Shape 12"/>
          <p:cNvSpPr/>
          <p:nvPr/>
        </p:nvSpPr>
        <p:spPr>
          <a:xfrm>
            <a:off x="4846320" y="2103120"/>
            <a:ext cx="182880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5875">
            <a:solidFill>
              <a:srgbClr val="1C7293"/>
            </a:solidFill>
            <a:prstDash val="solid"/>
          </a:ln>
          <a:effectLst>
            <a:outerShdw blurRad="76200" dist="25400" dir="5400000" algn="bl" rotWithShape="0">
              <a:srgbClr val="1F2937">
                <a:alpha val="18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15" name="Text 13"/>
          <p:cNvSpPr/>
          <p:nvPr/>
        </p:nvSpPr>
        <p:spPr>
          <a:xfrm>
            <a:off x="4919472" y="2103120"/>
            <a:ext cx="168249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Over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846320" y="2084832"/>
            <a:ext cx="1828800" cy="73152"/>
          </a:xfrm>
          <a:prstGeom prst="round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7" name="Shape 15"/>
          <p:cNvSpPr/>
          <p:nvPr/>
        </p:nvSpPr>
        <p:spPr>
          <a:xfrm>
            <a:off x="6702552" y="2555748"/>
            <a:ext cx="265176" cy="146304"/>
          </a:xfrm>
          <a:prstGeom prst="rightArrow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8" name="Shape 16"/>
          <p:cNvSpPr/>
          <p:nvPr/>
        </p:nvSpPr>
        <p:spPr>
          <a:xfrm>
            <a:off x="6995160" y="2103120"/>
            <a:ext cx="182880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5875">
            <a:solidFill>
              <a:srgbClr val="B23A2F"/>
            </a:solidFill>
            <a:prstDash val="solid"/>
          </a:ln>
          <a:effectLst>
            <a:outerShdw blurRad="76200" dist="25400" dir="5400000" algn="bl" rotWithShape="0">
              <a:srgbClr val="1F2937">
                <a:alpha val="18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19" name="Text 17"/>
          <p:cNvSpPr/>
          <p:nvPr/>
        </p:nvSpPr>
        <p:spPr>
          <a:xfrm>
            <a:off x="7068312" y="2103120"/>
            <a:ext cx="168249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Enviar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Gmail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995160" y="2084832"/>
            <a:ext cx="1828800" cy="73152"/>
          </a:xfrm>
          <a:prstGeom prst="roundRect">
            <a:avLst/>
          </a:prstGeom>
          <a:solidFill>
            <a:srgbClr val="B23A2F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21" name="Shape 19"/>
          <p:cNvSpPr/>
          <p:nvPr/>
        </p:nvSpPr>
        <p:spPr>
          <a:xfrm>
            <a:off x="8851392" y="2555748"/>
            <a:ext cx="265176" cy="146304"/>
          </a:xfrm>
          <a:prstGeom prst="rightArrow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22" name="Shape 20"/>
          <p:cNvSpPr/>
          <p:nvPr/>
        </p:nvSpPr>
        <p:spPr>
          <a:xfrm>
            <a:off x="9144000" y="2103120"/>
            <a:ext cx="182880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5875">
            <a:solidFill>
              <a:srgbClr val="2E7D45"/>
            </a:solidFill>
            <a:prstDash val="solid"/>
          </a:ln>
          <a:effectLst>
            <a:outerShdw blurRad="76200" dist="25400" dir="5400000" algn="bl" rotWithShape="0">
              <a:srgbClr val="1F2937">
                <a:alpha val="18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23" name="Text 21"/>
          <p:cNvSpPr/>
          <p:nvPr/>
        </p:nvSpPr>
        <p:spPr>
          <a:xfrm>
            <a:off x="9217152" y="2103120"/>
            <a:ext cx="168249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Actualizar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9144000" y="2084832"/>
            <a:ext cx="1828800" cy="73152"/>
          </a:xfrm>
          <a:prstGeom prst="roundRect">
            <a:avLst/>
          </a:prstGeom>
          <a:solidFill>
            <a:srgbClr val="2E7D45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25" name="Shape 23"/>
          <p:cNvSpPr/>
          <p:nvPr/>
        </p:nvSpPr>
        <p:spPr>
          <a:xfrm>
            <a:off x="2377440" y="3474720"/>
            <a:ext cx="6766560" cy="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  <a:tailEnd type="triangle"/>
          </a:ln>
        </p:spPr>
        <p:txBody>
          <a:bodyPr/>
          <a:lstStyle/>
          <a:p>
            <a:endParaRPr lang="es-AR"/>
          </a:p>
        </p:txBody>
      </p:sp>
      <p:sp>
        <p:nvSpPr>
          <p:cNvPr id="26" name="Shape 24"/>
          <p:cNvSpPr/>
          <p:nvPr/>
        </p:nvSpPr>
        <p:spPr>
          <a:xfrm>
            <a:off x="9098280" y="3154680"/>
            <a:ext cx="0" cy="32004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7" name="Shape 25"/>
          <p:cNvSpPr/>
          <p:nvPr/>
        </p:nvSpPr>
        <p:spPr>
          <a:xfrm>
            <a:off x="2377440" y="3154680"/>
            <a:ext cx="0" cy="32004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  <a:tailEnd type="triangle"/>
          </a:ln>
        </p:spPr>
        <p:txBody>
          <a:bodyPr/>
          <a:lstStyle/>
          <a:p>
            <a:endParaRPr lang="es-AR"/>
          </a:p>
        </p:txBody>
      </p:sp>
      <p:sp>
        <p:nvSpPr>
          <p:cNvPr id="28" name="Text 26"/>
          <p:cNvSpPr/>
          <p:nvPr/>
        </p:nvSpPr>
        <p:spPr>
          <a:xfrm>
            <a:off x="2377440" y="352044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loop repite hasta procesar todas las órdenes en "Listo para enviar"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548640" y="3977640"/>
            <a:ext cx="1056132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E2E8E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0" name="Text 28"/>
          <p:cNvSpPr/>
          <p:nvPr/>
        </p:nvSpPr>
        <p:spPr>
          <a:xfrm>
            <a:off x="822960" y="4160520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Qué actualiza en la sheet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822960" y="45720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246120" y="45720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"Esperando respuesta"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822960" y="50292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 Envío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3246120" y="50292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fecha y hora actual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822960" y="54864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Última Actualización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3246120" y="54864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fecha y hora actual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766560" y="4206240"/>
            <a:ext cx="0" cy="1783080"/>
          </a:xfrm>
          <a:prstGeom prst="line">
            <a:avLst/>
          </a:prstGeom>
          <a:noFill/>
          <a:ln w="12700">
            <a:solidFill>
              <a:srgbClr val="E2E8E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8" name="Text 36"/>
          <p:cNvSpPr/>
          <p:nvPr/>
        </p:nvSpPr>
        <p:spPr>
          <a:xfrm>
            <a:off x="7040880" y="4160520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Diseño sin complejidad extra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7040880" y="4526280"/>
            <a:ext cx="39319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nodos Code, sin Merge, sin IF: la cadena es 100% lineal.</a:t>
            </a: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item que entra al loop sale con su Orden de Servicio intacta,</a:t>
            </a: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 para matchear la fila correcta en Sheets.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Final Integrador · Diplomatura en Diseño de Procesos de Negocios · FCE-UBA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Workflow 2 · Seguimiento automático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64592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TRES WORKFLOWS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9448495" y="502920"/>
            <a:ext cx="2194560" cy="274320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5" name="Text 3"/>
          <p:cNvSpPr/>
          <p:nvPr/>
        </p:nvSpPr>
        <p:spPr>
          <a:xfrm>
            <a:off x="9448495" y="5029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Disparador: diario 09:00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137160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5875">
            <a:solidFill>
              <a:srgbClr val="065A82"/>
            </a:solidFill>
            <a:prstDash val="solid"/>
          </a:ln>
          <a:effectLst>
            <a:outerShdw blurRad="76200" dist="25400" dir="5400000" algn="bl" rotWithShape="0">
              <a:srgbClr val="1F2937">
                <a:alpha val="18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7" name="Text 5"/>
          <p:cNvSpPr/>
          <p:nvPr/>
        </p:nvSpPr>
        <p:spPr>
          <a:xfrm>
            <a:off x="621792" y="1691640"/>
            <a:ext cx="12252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Diario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1938528" y="2061972"/>
            <a:ext cx="146304" cy="146304"/>
          </a:xfrm>
          <a:prstGeom prst="rightArrow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9" name="Shape 7"/>
          <p:cNvSpPr/>
          <p:nvPr/>
        </p:nvSpPr>
        <p:spPr>
          <a:xfrm>
            <a:off x="2103120" y="1691640"/>
            <a:ext cx="137160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5875">
            <a:solidFill>
              <a:srgbClr val="1C7293"/>
            </a:solidFill>
            <a:prstDash val="solid"/>
          </a:ln>
          <a:effectLst>
            <a:outerShdw blurRad="76200" dist="25400" dir="5400000" algn="bl" rotWithShape="0">
              <a:srgbClr val="1F2937">
                <a:alpha val="18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10" name="Text 8"/>
          <p:cNvSpPr/>
          <p:nvPr/>
        </p:nvSpPr>
        <p:spPr>
          <a:xfrm>
            <a:off x="2176272" y="1691640"/>
            <a:ext cx="12252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Buscar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"Esperando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respuesta"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493008" y="2061972"/>
            <a:ext cx="146304" cy="146304"/>
          </a:xfrm>
          <a:prstGeom prst="rightArrow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2" name="Shape 10"/>
          <p:cNvSpPr/>
          <p:nvPr/>
        </p:nvSpPr>
        <p:spPr>
          <a:xfrm>
            <a:off x="3657600" y="1691640"/>
            <a:ext cx="137160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5875">
            <a:solidFill>
              <a:srgbClr val="1C7293"/>
            </a:solidFill>
            <a:prstDash val="solid"/>
          </a:ln>
          <a:effectLst>
            <a:outerShdw blurRad="76200" dist="25400" dir="5400000" algn="bl" rotWithShape="0">
              <a:srgbClr val="1F2937">
                <a:alpha val="18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13" name="Text 11"/>
          <p:cNvSpPr/>
          <p:nvPr/>
        </p:nvSpPr>
        <p:spPr>
          <a:xfrm>
            <a:off x="3730752" y="1691640"/>
            <a:ext cx="12252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Over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047488" y="2061972"/>
            <a:ext cx="146304" cy="146304"/>
          </a:xfrm>
          <a:prstGeom prst="rightArrow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5" name="Shape 13"/>
          <p:cNvSpPr/>
          <p:nvPr/>
        </p:nvSpPr>
        <p:spPr>
          <a:xfrm>
            <a:off x="5212080" y="1691640"/>
            <a:ext cx="137160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5875">
            <a:solidFill>
              <a:srgbClr val="1C7293"/>
            </a:solidFill>
            <a:prstDash val="solid"/>
          </a:ln>
          <a:effectLst>
            <a:outerShdw blurRad="76200" dist="25400" dir="5400000" algn="bl" rotWithShape="0">
              <a:srgbClr val="1F2937">
                <a:alpha val="18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16" name="Text 14"/>
          <p:cNvSpPr/>
          <p:nvPr/>
        </p:nvSpPr>
        <p:spPr>
          <a:xfrm>
            <a:off x="5285232" y="1691640"/>
            <a:ext cx="12252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Calcular días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transcurridos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601968" y="2061972"/>
            <a:ext cx="146304" cy="146304"/>
          </a:xfrm>
          <a:prstGeom prst="rightArrow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8" name="Shape 16"/>
          <p:cNvSpPr/>
          <p:nvPr/>
        </p:nvSpPr>
        <p:spPr>
          <a:xfrm>
            <a:off x="6766560" y="1691640"/>
            <a:ext cx="137160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5875">
            <a:solidFill>
              <a:srgbClr val="8B5CF6"/>
            </a:solidFill>
            <a:prstDash val="solid"/>
          </a:ln>
          <a:effectLst>
            <a:outerShdw blurRad="76200" dist="25400" dir="5400000" algn="bl" rotWithShape="0">
              <a:srgbClr val="1F2937">
                <a:alpha val="18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19" name="Text 17"/>
          <p:cNvSpPr/>
          <p:nvPr/>
        </p:nvSpPr>
        <p:spPr>
          <a:xfrm>
            <a:off x="6839712" y="1691640"/>
            <a:ext cx="12252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días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8138160" y="2125980"/>
            <a:ext cx="137160" cy="0"/>
          </a:xfrm>
          <a:prstGeom prst="line">
            <a:avLst/>
          </a:prstGeom>
          <a:noFill/>
          <a:ln w="15875">
            <a:solidFill>
              <a:srgbClr val="C77700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1" name="Shape 19"/>
          <p:cNvSpPr/>
          <p:nvPr/>
        </p:nvSpPr>
        <p:spPr>
          <a:xfrm>
            <a:off x="8275320" y="1746504"/>
            <a:ext cx="0" cy="379476"/>
          </a:xfrm>
          <a:prstGeom prst="line">
            <a:avLst/>
          </a:prstGeom>
          <a:noFill/>
          <a:ln w="15875">
            <a:solidFill>
              <a:srgbClr val="C77700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2" name="Shape 20"/>
          <p:cNvSpPr/>
          <p:nvPr/>
        </p:nvSpPr>
        <p:spPr>
          <a:xfrm>
            <a:off x="8275320" y="1746504"/>
            <a:ext cx="228600" cy="0"/>
          </a:xfrm>
          <a:prstGeom prst="line">
            <a:avLst/>
          </a:prstGeom>
          <a:noFill/>
          <a:ln w="15875">
            <a:solidFill>
              <a:srgbClr val="C77700"/>
            </a:solidFill>
            <a:prstDash val="solid"/>
            <a:tailEnd type="triangle"/>
          </a:ln>
        </p:spPr>
        <p:txBody>
          <a:bodyPr/>
          <a:lstStyle/>
          <a:p>
            <a:endParaRPr lang="es-AR"/>
          </a:p>
        </p:txBody>
      </p:sp>
      <p:sp>
        <p:nvSpPr>
          <p:cNvPr id="23" name="Shape 21"/>
          <p:cNvSpPr/>
          <p:nvPr/>
        </p:nvSpPr>
        <p:spPr>
          <a:xfrm>
            <a:off x="8549640" y="1417320"/>
            <a:ext cx="306324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5875">
            <a:solidFill>
              <a:srgbClr val="C77700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4" name="Text 22"/>
          <p:cNvSpPr/>
          <p:nvPr/>
        </p:nvSpPr>
        <p:spPr>
          <a:xfrm>
            <a:off x="8714232" y="1472184"/>
            <a:ext cx="2734056" cy="29260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150" b="1" dirty="0">
                <a:solidFill>
                  <a:srgbClr val="C77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Recordatorio 1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8714232" y="1783080"/>
            <a:ext cx="2734056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3 días sin respuesta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8138160" y="2125980"/>
            <a:ext cx="137160" cy="0"/>
          </a:xfrm>
          <a:prstGeom prst="line">
            <a:avLst/>
          </a:prstGeom>
          <a:noFill/>
          <a:ln w="15875">
            <a:solidFill>
              <a:srgbClr val="B23A2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7" name="Shape 25"/>
          <p:cNvSpPr/>
          <p:nvPr/>
        </p:nvSpPr>
        <p:spPr>
          <a:xfrm>
            <a:off x="8275320" y="2125980"/>
            <a:ext cx="0" cy="534924"/>
          </a:xfrm>
          <a:prstGeom prst="line">
            <a:avLst/>
          </a:prstGeom>
          <a:noFill/>
          <a:ln w="15875">
            <a:solidFill>
              <a:srgbClr val="B23A2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8" name="Shape 26"/>
          <p:cNvSpPr/>
          <p:nvPr/>
        </p:nvSpPr>
        <p:spPr>
          <a:xfrm>
            <a:off x="8275320" y="2660904"/>
            <a:ext cx="228600" cy="0"/>
          </a:xfrm>
          <a:prstGeom prst="line">
            <a:avLst/>
          </a:prstGeom>
          <a:noFill/>
          <a:ln w="15875">
            <a:solidFill>
              <a:srgbClr val="B23A2F"/>
            </a:solidFill>
            <a:prstDash val="solid"/>
            <a:tailEnd type="triangle"/>
          </a:ln>
        </p:spPr>
        <p:txBody>
          <a:bodyPr/>
          <a:lstStyle/>
          <a:p>
            <a:endParaRPr lang="es-AR"/>
          </a:p>
        </p:txBody>
      </p:sp>
      <p:sp>
        <p:nvSpPr>
          <p:cNvPr id="29" name="Shape 27"/>
          <p:cNvSpPr/>
          <p:nvPr/>
        </p:nvSpPr>
        <p:spPr>
          <a:xfrm>
            <a:off x="8549640" y="2331720"/>
            <a:ext cx="306324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5875">
            <a:solidFill>
              <a:srgbClr val="B23A2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0" name="Text 28"/>
          <p:cNvSpPr/>
          <p:nvPr/>
        </p:nvSpPr>
        <p:spPr>
          <a:xfrm>
            <a:off x="8714232" y="2386584"/>
            <a:ext cx="2734056" cy="29260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150" b="1" dirty="0">
                <a:solidFill>
                  <a:srgbClr val="B2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Recordatorio 2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8714232" y="2697480"/>
            <a:ext cx="2734056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7 días sin respuesta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8138160" y="2125980"/>
            <a:ext cx="137160" cy="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3" name="Shape 31"/>
          <p:cNvSpPr/>
          <p:nvPr/>
        </p:nvSpPr>
        <p:spPr>
          <a:xfrm>
            <a:off x="8275320" y="2125980"/>
            <a:ext cx="0" cy="1449324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4" name="Shape 32"/>
          <p:cNvSpPr/>
          <p:nvPr/>
        </p:nvSpPr>
        <p:spPr>
          <a:xfrm>
            <a:off x="8275320" y="3575304"/>
            <a:ext cx="228600" cy="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  <a:tailEnd type="triangle"/>
          </a:ln>
        </p:spPr>
        <p:txBody>
          <a:bodyPr/>
          <a:lstStyle/>
          <a:p>
            <a:endParaRPr lang="es-AR"/>
          </a:p>
        </p:txBody>
      </p:sp>
      <p:sp>
        <p:nvSpPr>
          <p:cNvPr id="35" name="Shape 33"/>
          <p:cNvSpPr/>
          <p:nvPr/>
        </p:nvSpPr>
        <p:spPr>
          <a:xfrm>
            <a:off x="8549640" y="3246120"/>
            <a:ext cx="306324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5875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6" name="Text 34"/>
          <p:cNvSpPr/>
          <p:nvPr/>
        </p:nvSpPr>
        <p:spPr>
          <a:xfrm>
            <a:off x="8714232" y="3300984"/>
            <a:ext cx="2734056" cy="29260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1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Presupuesto Vencido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8714232" y="3611880"/>
            <a:ext cx="2734056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15 días sin respuesta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8549640" y="4069080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95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Gmail + Telegram + update en Sheets se disparan en cada rama, evitando reenvíos duplicados gracias al flag "Enviado = Sí".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548640" y="4343400"/>
            <a:ext cx="7635240" cy="1691640"/>
          </a:xfrm>
          <a:prstGeom prst="roundRect">
            <a:avLst>
              <a:gd name="adj" fmla="val 5405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40" name="Text 38"/>
          <p:cNvSpPr/>
          <p:nvPr/>
        </p:nvSpPr>
        <p:spPr>
          <a:xfrm>
            <a:off x="822960" y="4507992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Regla clave: nunca se reinicia el conteo de días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822960" y="4873752"/>
            <a:ext cx="7132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50"/>
              </a:lnSpc>
              <a:buNone/>
            </a:pPr>
            <a:r>
              <a:rPr lang="en-US" sz="1100" dirty="0">
                <a:solidFill>
                  <a:srgbClr val="CF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días se calculan siempre contra la Fecha Envío original — nunca contra la fecha del último recordatorio. Esto evita que un recordatorio "reinicie el reloj" y una orden quede eternamente en seguimiento sin vencer nunca.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Final Integrador · Diplomatura en Diseño de Procesos de Negocios · FCE-UBA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Workflow 3 · Procesamiento inteligente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64592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TRES WORKFLOWS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8899855" y="502920"/>
            <a:ext cx="2743200" cy="274320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5" name="Text 3"/>
          <p:cNvSpPr/>
          <p:nvPr/>
        </p:nvSpPr>
        <p:spPr>
          <a:xfrm>
            <a:off x="8899855" y="5029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entradas independientes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12344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ENTRADA A · Botones del mail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48640" y="1554480"/>
            <a:ext cx="1508760" cy="777240"/>
          </a:xfrm>
          <a:prstGeom prst="roundRect">
            <a:avLst>
              <a:gd name="adj" fmla="val 10588"/>
            </a:avLst>
          </a:prstGeom>
          <a:solidFill>
            <a:srgbClr val="FFFFFF"/>
          </a:solidFill>
          <a:ln w="15875">
            <a:solidFill>
              <a:srgbClr val="065A82"/>
            </a:solidFill>
            <a:prstDash val="solid"/>
          </a:ln>
          <a:effectLst>
            <a:outerShdw blurRad="76200" dist="25400" dir="5400000" algn="bl" rotWithShape="0">
              <a:srgbClr val="1F2937">
                <a:alpha val="18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8" name="Text 6"/>
          <p:cNvSpPr/>
          <p:nvPr/>
        </p:nvSpPr>
        <p:spPr>
          <a:xfrm>
            <a:off x="621792" y="1554480"/>
            <a:ext cx="13624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Webhook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(GET)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075688" y="1879092"/>
            <a:ext cx="128016" cy="146304"/>
          </a:xfrm>
          <a:prstGeom prst="rightArrow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0" name="Shape 8"/>
          <p:cNvSpPr/>
          <p:nvPr/>
        </p:nvSpPr>
        <p:spPr>
          <a:xfrm>
            <a:off x="2221992" y="1554480"/>
            <a:ext cx="1508760" cy="777240"/>
          </a:xfrm>
          <a:prstGeom prst="roundRect">
            <a:avLst>
              <a:gd name="adj" fmla="val 10588"/>
            </a:avLst>
          </a:prstGeom>
          <a:solidFill>
            <a:srgbClr val="FFFFFF"/>
          </a:solidFill>
          <a:ln w="15875">
            <a:solidFill>
              <a:srgbClr val="1C7293"/>
            </a:solidFill>
            <a:prstDash val="solid"/>
          </a:ln>
          <a:effectLst>
            <a:outerShdw blurRad="76200" dist="25400" dir="5400000" algn="bl" rotWithShape="0">
              <a:srgbClr val="1F2937">
                <a:alpha val="18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11" name="Text 9"/>
          <p:cNvSpPr/>
          <p:nvPr/>
        </p:nvSpPr>
        <p:spPr>
          <a:xfrm>
            <a:off x="2295144" y="1554480"/>
            <a:ext cx="13624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Actualizar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Sheets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749040" y="1879092"/>
            <a:ext cx="128016" cy="146304"/>
          </a:xfrm>
          <a:prstGeom prst="rightArrow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3" name="Shape 11"/>
          <p:cNvSpPr/>
          <p:nvPr/>
        </p:nvSpPr>
        <p:spPr>
          <a:xfrm>
            <a:off x="3895344" y="1554480"/>
            <a:ext cx="1508760" cy="777240"/>
          </a:xfrm>
          <a:prstGeom prst="roundRect">
            <a:avLst>
              <a:gd name="adj" fmla="val 10588"/>
            </a:avLst>
          </a:prstGeom>
          <a:solidFill>
            <a:srgbClr val="FFFFFF"/>
          </a:solidFill>
          <a:ln w="15875">
            <a:solidFill>
              <a:srgbClr val="1C7293"/>
            </a:solidFill>
            <a:prstDash val="solid"/>
          </a:ln>
          <a:effectLst>
            <a:outerShdw blurRad="76200" dist="25400" dir="5400000" algn="bl" rotWithShape="0">
              <a:srgbClr val="1F2937">
                <a:alpha val="18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14" name="Text 12"/>
          <p:cNvSpPr/>
          <p:nvPr/>
        </p:nvSpPr>
        <p:spPr>
          <a:xfrm>
            <a:off x="3968496" y="1554480"/>
            <a:ext cx="13624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Telegram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422392" y="1879092"/>
            <a:ext cx="128016" cy="146304"/>
          </a:xfrm>
          <a:prstGeom prst="rightArrow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6" name="Shape 14"/>
          <p:cNvSpPr/>
          <p:nvPr/>
        </p:nvSpPr>
        <p:spPr>
          <a:xfrm>
            <a:off x="5568696" y="1554480"/>
            <a:ext cx="1508760" cy="777240"/>
          </a:xfrm>
          <a:prstGeom prst="roundRect">
            <a:avLst>
              <a:gd name="adj" fmla="val 10588"/>
            </a:avLst>
          </a:prstGeom>
          <a:solidFill>
            <a:srgbClr val="FFFFFF"/>
          </a:solidFill>
          <a:ln w="15875">
            <a:solidFill>
              <a:srgbClr val="2E7D45"/>
            </a:solidFill>
            <a:prstDash val="solid"/>
          </a:ln>
          <a:effectLst>
            <a:outerShdw blurRad="76200" dist="25400" dir="5400000" algn="bl" rotWithShape="0">
              <a:srgbClr val="1F2937">
                <a:alpha val="18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17" name="Text 15"/>
          <p:cNvSpPr/>
          <p:nvPr/>
        </p:nvSpPr>
        <p:spPr>
          <a:xfrm>
            <a:off x="5641848" y="1554480"/>
            <a:ext cx="13624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 to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Webhook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48640" y="26060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ENTRADA B · Respuesta por mail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2926080"/>
            <a:ext cx="1143000" cy="777240"/>
          </a:xfrm>
          <a:prstGeom prst="roundRect">
            <a:avLst>
              <a:gd name="adj" fmla="val 10588"/>
            </a:avLst>
          </a:prstGeom>
          <a:solidFill>
            <a:srgbClr val="FFFFFF"/>
          </a:solidFill>
          <a:ln w="15875">
            <a:solidFill>
              <a:srgbClr val="065A82"/>
            </a:solidFill>
            <a:prstDash val="solid"/>
          </a:ln>
          <a:effectLst>
            <a:outerShdw blurRad="76200" dist="25400" dir="5400000" algn="bl" rotWithShape="0">
              <a:srgbClr val="1F2937">
                <a:alpha val="18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20" name="Text 18"/>
          <p:cNvSpPr/>
          <p:nvPr/>
        </p:nvSpPr>
        <p:spPr>
          <a:xfrm>
            <a:off x="621792" y="2926080"/>
            <a:ext cx="9966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Gmail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1705356" y="3250692"/>
            <a:ext cx="100584" cy="146304"/>
          </a:xfrm>
          <a:prstGeom prst="rightArrow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22" name="Shape 20"/>
          <p:cNvSpPr/>
          <p:nvPr/>
        </p:nvSpPr>
        <p:spPr>
          <a:xfrm>
            <a:off x="1819656" y="2926080"/>
            <a:ext cx="1143000" cy="777240"/>
          </a:xfrm>
          <a:prstGeom prst="roundRect">
            <a:avLst>
              <a:gd name="adj" fmla="val 10588"/>
            </a:avLst>
          </a:prstGeom>
          <a:solidFill>
            <a:srgbClr val="FFFFFF"/>
          </a:solidFill>
          <a:ln w="15875">
            <a:solidFill>
              <a:srgbClr val="1C7293"/>
            </a:solidFill>
            <a:prstDash val="solid"/>
          </a:ln>
          <a:effectLst>
            <a:outerShdw blurRad="76200" dist="25400" dir="5400000" algn="bl" rotWithShape="0">
              <a:srgbClr val="1F2937">
                <a:alpha val="18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23" name="Text 21"/>
          <p:cNvSpPr/>
          <p:nvPr/>
        </p:nvSpPr>
        <p:spPr>
          <a:xfrm>
            <a:off x="1892808" y="2926080"/>
            <a:ext cx="9966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Extraer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Orden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976372" y="3250692"/>
            <a:ext cx="100584" cy="146304"/>
          </a:xfrm>
          <a:prstGeom prst="rightArrow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25" name="Shape 23"/>
          <p:cNvSpPr/>
          <p:nvPr/>
        </p:nvSpPr>
        <p:spPr>
          <a:xfrm>
            <a:off x="3090672" y="2926080"/>
            <a:ext cx="1143000" cy="777240"/>
          </a:xfrm>
          <a:prstGeom prst="roundRect">
            <a:avLst>
              <a:gd name="adj" fmla="val 10588"/>
            </a:avLst>
          </a:prstGeom>
          <a:solidFill>
            <a:srgbClr val="FFFFFF"/>
          </a:solidFill>
          <a:ln w="15875">
            <a:solidFill>
              <a:srgbClr val="1C7293"/>
            </a:solidFill>
            <a:prstDash val="solid"/>
          </a:ln>
          <a:effectLst>
            <a:outerShdw blurRad="76200" dist="25400" dir="5400000" algn="bl" rotWithShape="0">
              <a:srgbClr val="1F2937">
                <a:alpha val="18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26" name="Text 24"/>
          <p:cNvSpPr/>
          <p:nvPr/>
        </p:nvSpPr>
        <p:spPr>
          <a:xfrm>
            <a:off x="3163824" y="2926080"/>
            <a:ext cx="9966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Buscar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Orden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247388" y="3250692"/>
            <a:ext cx="100584" cy="146304"/>
          </a:xfrm>
          <a:prstGeom prst="rightArrow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28" name="Shape 26"/>
          <p:cNvSpPr/>
          <p:nvPr/>
        </p:nvSpPr>
        <p:spPr>
          <a:xfrm>
            <a:off x="4361688" y="2926080"/>
            <a:ext cx="1143000" cy="777240"/>
          </a:xfrm>
          <a:prstGeom prst="roundRect">
            <a:avLst>
              <a:gd name="adj" fmla="val 10588"/>
            </a:avLst>
          </a:prstGeom>
          <a:solidFill>
            <a:srgbClr val="FFFFFF"/>
          </a:solidFill>
          <a:ln w="15875">
            <a:solidFill>
              <a:srgbClr val="1C7293"/>
            </a:solidFill>
            <a:prstDash val="solid"/>
          </a:ln>
          <a:effectLst>
            <a:outerShdw blurRad="76200" dist="25400" dir="5400000" algn="bl" rotWithShape="0">
              <a:srgbClr val="1F2937">
                <a:alpha val="18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29" name="Text 27"/>
          <p:cNvSpPr/>
          <p:nvPr/>
        </p:nvSpPr>
        <p:spPr>
          <a:xfrm>
            <a:off x="4434840" y="2926080"/>
            <a:ext cx="9966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Verificar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5650992" y="3250692"/>
            <a:ext cx="237744" cy="146304"/>
          </a:xfrm>
          <a:prstGeom prst="rightArrow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31" name="Shape 29"/>
          <p:cNvSpPr/>
          <p:nvPr/>
        </p:nvSpPr>
        <p:spPr>
          <a:xfrm>
            <a:off x="5888736" y="2834640"/>
            <a:ext cx="1325880" cy="960120"/>
          </a:xfrm>
          <a:prstGeom prst="roundRect">
            <a:avLst>
              <a:gd name="adj" fmla="val 9524"/>
            </a:avLst>
          </a:prstGeom>
          <a:solidFill>
            <a:srgbClr val="8B5CF6"/>
          </a:solidFill>
          <a:ln/>
          <a:effectLst>
            <a:outerShdw blurRad="127000" dist="25400" dir="5400000" algn="bl" rotWithShape="0">
              <a:srgbClr val="8B5CF6">
                <a:alpha val="35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32" name="Text 30"/>
          <p:cNvSpPr/>
          <p:nvPr/>
        </p:nvSpPr>
        <p:spPr>
          <a:xfrm>
            <a:off x="5888736" y="292608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</a:t>
            </a:r>
            <a:endParaRPr lang="en-US" sz="1150" dirty="0"/>
          </a:p>
          <a:p>
            <a:pPr marL="0" indent="0" algn="ctr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5888736" y="3401568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800" dirty="0">
                <a:solidFill>
                  <a:srgbClr val="EA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clasifica el</a:t>
            </a:r>
            <a:endParaRPr lang="en-US" sz="800" dirty="0"/>
          </a:p>
          <a:p>
            <a:pPr marL="0" indent="0" algn="ctr">
              <a:lnSpc>
                <a:spcPts val="1000"/>
              </a:lnSpc>
              <a:buNone/>
            </a:pPr>
            <a:r>
              <a:rPr lang="en-US" sz="800" dirty="0">
                <a:solidFill>
                  <a:srgbClr val="EA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mensaje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7342632" y="3250692"/>
            <a:ext cx="219456" cy="146304"/>
          </a:xfrm>
          <a:prstGeom prst="rightArrow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35" name="Text 33"/>
          <p:cNvSpPr/>
          <p:nvPr/>
        </p:nvSpPr>
        <p:spPr>
          <a:xfrm>
            <a:off x="7580376" y="2880360"/>
            <a:ext cx="1051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9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</a:t>
            </a:r>
            <a:endParaRPr lang="en-US" sz="950" dirty="0"/>
          </a:p>
          <a:p>
            <a:pPr marL="0" indent="0" algn="ctr">
              <a:lnSpc>
                <a:spcPts val="1100"/>
              </a:lnSpc>
              <a:buNone/>
            </a:pPr>
            <a:r>
              <a:rPr lang="en-US" sz="9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Clasificación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9646920" y="109728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8631936" y="3314700"/>
            <a:ext cx="137160" cy="0"/>
          </a:xfrm>
          <a:prstGeom prst="line">
            <a:avLst/>
          </a:prstGeom>
          <a:noFill/>
          <a:ln w="13970">
            <a:solidFill>
              <a:srgbClr val="2E7D45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8" name="Shape 36"/>
          <p:cNvSpPr/>
          <p:nvPr/>
        </p:nvSpPr>
        <p:spPr>
          <a:xfrm>
            <a:off x="8769096" y="1645920"/>
            <a:ext cx="0" cy="1668780"/>
          </a:xfrm>
          <a:prstGeom prst="line">
            <a:avLst/>
          </a:prstGeom>
          <a:noFill/>
          <a:ln w="13970">
            <a:solidFill>
              <a:srgbClr val="2E7D45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9" name="Shape 37"/>
          <p:cNvSpPr/>
          <p:nvPr/>
        </p:nvSpPr>
        <p:spPr>
          <a:xfrm>
            <a:off x="8769096" y="1645920"/>
            <a:ext cx="877824" cy="0"/>
          </a:xfrm>
          <a:prstGeom prst="line">
            <a:avLst/>
          </a:prstGeom>
          <a:noFill/>
          <a:ln w="13970">
            <a:solidFill>
              <a:srgbClr val="2E7D45"/>
            </a:solidFill>
            <a:prstDash val="solid"/>
            <a:tailEnd type="triangle"/>
          </a:ln>
        </p:spPr>
        <p:txBody>
          <a:bodyPr/>
          <a:lstStyle/>
          <a:p>
            <a:endParaRPr lang="es-AR"/>
          </a:p>
        </p:txBody>
      </p:sp>
      <p:sp>
        <p:nvSpPr>
          <p:cNvPr id="40" name="Shape 38"/>
          <p:cNvSpPr/>
          <p:nvPr/>
        </p:nvSpPr>
        <p:spPr>
          <a:xfrm>
            <a:off x="9646920" y="1417320"/>
            <a:ext cx="2011680" cy="274320"/>
          </a:xfrm>
          <a:prstGeom prst="roundRect">
            <a:avLst>
              <a:gd name="adj" fmla="val 50000"/>
            </a:avLst>
          </a:prstGeom>
          <a:solidFill>
            <a:srgbClr val="2E7D45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41" name="Text 39"/>
          <p:cNvSpPr/>
          <p:nvPr/>
        </p:nvSpPr>
        <p:spPr>
          <a:xfrm>
            <a:off x="9646920" y="14173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APROBADO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8631936" y="3314700"/>
            <a:ext cx="137160" cy="0"/>
          </a:xfrm>
          <a:prstGeom prst="line">
            <a:avLst/>
          </a:prstGeom>
          <a:noFill/>
          <a:ln w="13970">
            <a:solidFill>
              <a:srgbClr val="B23A2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43" name="Shape 41"/>
          <p:cNvSpPr/>
          <p:nvPr/>
        </p:nvSpPr>
        <p:spPr>
          <a:xfrm>
            <a:off x="8769096" y="2240280"/>
            <a:ext cx="0" cy="1074420"/>
          </a:xfrm>
          <a:prstGeom prst="line">
            <a:avLst/>
          </a:prstGeom>
          <a:noFill/>
          <a:ln w="13970">
            <a:solidFill>
              <a:srgbClr val="B23A2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44" name="Shape 42"/>
          <p:cNvSpPr/>
          <p:nvPr/>
        </p:nvSpPr>
        <p:spPr>
          <a:xfrm>
            <a:off x="8769096" y="2240280"/>
            <a:ext cx="877824" cy="0"/>
          </a:xfrm>
          <a:prstGeom prst="line">
            <a:avLst/>
          </a:prstGeom>
          <a:noFill/>
          <a:ln w="13970">
            <a:solidFill>
              <a:srgbClr val="B23A2F"/>
            </a:solidFill>
            <a:prstDash val="solid"/>
            <a:tailEnd type="triangle"/>
          </a:ln>
        </p:spPr>
        <p:txBody>
          <a:bodyPr/>
          <a:lstStyle/>
          <a:p>
            <a:endParaRPr lang="es-AR"/>
          </a:p>
        </p:txBody>
      </p:sp>
      <p:sp>
        <p:nvSpPr>
          <p:cNvPr id="45" name="Shape 43"/>
          <p:cNvSpPr/>
          <p:nvPr/>
        </p:nvSpPr>
        <p:spPr>
          <a:xfrm>
            <a:off x="9646920" y="2011680"/>
            <a:ext cx="2011680" cy="274320"/>
          </a:xfrm>
          <a:prstGeom prst="roundRect">
            <a:avLst>
              <a:gd name="adj" fmla="val 50000"/>
            </a:avLst>
          </a:prstGeom>
          <a:solidFill>
            <a:srgbClr val="B23A2F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46" name="Text 44"/>
          <p:cNvSpPr/>
          <p:nvPr/>
        </p:nvSpPr>
        <p:spPr>
          <a:xfrm>
            <a:off x="9646920" y="20116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RECHAZADO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8631936" y="3314700"/>
            <a:ext cx="137160" cy="0"/>
          </a:xfrm>
          <a:prstGeom prst="line">
            <a:avLst/>
          </a:prstGeom>
          <a:noFill/>
          <a:ln w="13970">
            <a:solidFill>
              <a:srgbClr val="C77700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48" name="Shape 46"/>
          <p:cNvSpPr/>
          <p:nvPr/>
        </p:nvSpPr>
        <p:spPr>
          <a:xfrm>
            <a:off x="8769096" y="2834640"/>
            <a:ext cx="0" cy="480060"/>
          </a:xfrm>
          <a:prstGeom prst="line">
            <a:avLst/>
          </a:prstGeom>
          <a:noFill/>
          <a:ln w="13970">
            <a:solidFill>
              <a:srgbClr val="C77700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49" name="Shape 47"/>
          <p:cNvSpPr/>
          <p:nvPr/>
        </p:nvSpPr>
        <p:spPr>
          <a:xfrm>
            <a:off x="8769096" y="2834640"/>
            <a:ext cx="877824" cy="0"/>
          </a:xfrm>
          <a:prstGeom prst="line">
            <a:avLst/>
          </a:prstGeom>
          <a:noFill/>
          <a:ln w="13970">
            <a:solidFill>
              <a:srgbClr val="C77700"/>
            </a:solidFill>
            <a:prstDash val="solid"/>
            <a:tailEnd type="triangle"/>
          </a:ln>
        </p:spPr>
        <p:txBody>
          <a:bodyPr/>
          <a:lstStyle/>
          <a:p>
            <a:endParaRPr lang="es-AR"/>
          </a:p>
        </p:txBody>
      </p:sp>
      <p:sp>
        <p:nvSpPr>
          <p:cNvPr id="50" name="Shape 48"/>
          <p:cNvSpPr/>
          <p:nvPr/>
        </p:nvSpPr>
        <p:spPr>
          <a:xfrm>
            <a:off x="9646920" y="2606040"/>
            <a:ext cx="2011680" cy="274320"/>
          </a:xfrm>
          <a:prstGeom prst="roundRect">
            <a:avLst>
              <a:gd name="adj" fmla="val 50000"/>
            </a:avLst>
          </a:prstGeom>
          <a:solidFill>
            <a:srgbClr val="C77700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51" name="Text 49"/>
          <p:cNvSpPr/>
          <p:nvPr/>
        </p:nvSpPr>
        <p:spPr>
          <a:xfrm>
            <a:off x="9646920" y="26060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8631936" y="3314700"/>
            <a:ext cx="137160" cy="0"/>
          </a:xfrm>
          <a:prstGeom prst="line">
            <a:avLst/>
          </a:prstGeom>
          <a:noFill/>
          <a:ln w="1397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53" name="Shape 51"/>
          <p:cNvSpPr/>
          <p:nvPr/>
        </p:nvSpPr>
        <p:spPr>
          <a:xfrm>
            <a:off x="8769096" y="3314700"/>
            <a:ext cx="0" cy="114300"/>
          </a:xfrm>
          <a:prstGeom prst="line">
            <a:avLst/>
          </a:prstGeom>
          <a:noFill/>
          <a:ln w="1397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54" name="Shape 52"/>
          <p:cNvSpPr/>
          <p:nvPr/>
        </p:nvSpPr>
        <p:spPr>
          <a:xfrm>
            <a:off x="8769096" y="3429000"/>
            <a:ext cx="877824" cy="0"/>
          </a:xfrm>
          <a:prstGeom prst="line">
            <a:avLst/>
          </a:prstGeom>
          <a:noFill/>
          <a:ln w="13970">
            <a:solidFill>
              <a:srgbClr val="6B7280"/>
            </a:solidFill>
            <a:prstDash val="solid"/>
            <a:tailEnd type="triangle"/>
          </a:ln>
        </p:spPr>
        <p:txBody>
          <a:bodyPr/>
          <a:lstStyle/>
          <a:p>
            <a:endParaRPr lang="es-AR"/>
          </a:p>
        </p:txBody>
      </p:sp>
      <p:sp>
        <p:nvSpPr>
          <p:cNvPr id="55" name="Shape 53"/>
          <p:cNvSpPr/>
          <p:nvPr/>
        </p:nvSpPr>
        <p:spPr>
          <a:xfrm>
            <a:off x="9646920" y="3200400"/>
            <a:ext cx="2011680" cy="274320"/>
          </a:xfrm>
          <a:prstGeom prst="roundRect">
            <a:avLst>
              <a:gd name="adj" fmla="val 50000"/>
            </a:avLst>
          </a:prstGeom>
          <a:solidFill>
            <a:srgbClr val="6B7280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56" name="Text 54"/>
          <p:cNvSpPr/>
          <p:nvPr/>
        </p:nvSpPr>
        <p:spPr>
          <a:xfrm>
            <a:off x="9646920" y="32004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INDETERMINADO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548640" y="4160520"/>
            <a:ext cx="1110996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2E8E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58" name="Text 56"/>
          <p:cNvSpPr/>
          <p:nvPr/>
        </p:nvSpPr>
        <p:spPr>
          <a:xfrm>
            <a:off x="822960" y="434340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qué Gemini responde solo 4 palabras posibles</a:t>
            </a:r>
            <a:endParaRPr lang="en-US" sz="1300" dirty="0"/>
          </a:p>
        </p:txBody>
      </p:sp>
      <p:sp>
        <p:nvSpPr>
          <p:cNvPr id="59" name="Text 57"/>
          <p:cNvSpPr/>
          <p:nvPr/>
        </p:nvSpPr>
        <p:spPr>
          <a:xfrm>
            <a:off x="822960" y="4681728"/>
            <a:ext cx="106070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5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prompt restringe la salida a APROBADO / RECHAZADO / CONSULTA / INDETERMINADO — nada más. Esto convierte una respuesta en lenguaje natural, imposible de parsear con reglas fijas, en una clasificación que el Switch puede enrutar de forma determinística. CONSULTA e INDETERMINADO nunca actualizan el estado a aprobado/rechazado por sí solos: derivan el caso a "Pendiente gestión administrativa" para que decida una persona.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Final Integrador · Diplomatura en Diseño de Procesos de Negocios · FCE-UBA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Dónde interviene la IA (y dónde no)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64592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DE INTELIGENCIA ARTIFICIAL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5303520" cy="4480560"/>
          </a:xfrm>
          <a:prstGeom prst="roundRect">
            <a:avLst>
              <a:gd name="adj" fmla="val 2041"/>
            </a:avLst>
          </a:prstGeom>
          <a:solidFill>
            <a:srgbClr val="F1F4F6"/>
          </a:solidFill>
          <a:ln w="12700">
            <a:solidFill>
              <a:srgbClr val="E2E8E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5" name="Text 3"/>
          <p:cNvSpPr/>
          <p:nvPr/>
        </p:nvSpPr>
        <p:spPr>
          <a:xfrm>
            <a:off x="868680" y="14630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IA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68680" y="17373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Tareas determinísticas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68680" y="2286000"/>
            <a:ext cx="292608" cy="292608"/>
          </a:xfrm>
          <a:prstGeom prst="ellipse">
            <a:avLst/>
          </a:prstGeom>
          <a:solidFill>
            <a:srgbClr val="D7DEE4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8" name="Text 6"/>
          <p:cNvSpPr/>
          <p:nvPr/>
        </p:nvSpPr>
        <p:spPr>
          <a:xfrm>
            <a:off x="868680" y="22860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80160" y="2276856"/>
            <a:ext cx="4434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Enviar correos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68680" y="2852928"/>
            <a:ext cx="292608" cy="292608"/>
          </a:xfrm>
          <a:prstGeom prst="ellipse">
            <a:avLst/>
          </a:prstGeom>
          <a:solidFill>
            <a:srgbClr val="D7DEE4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1" name="Text 9"/>
          <p:cNvSpPr/>
          <p:nvPr/>
        </p:nvSpPr>
        <p:spPr>
          <a:xfrm>
            <a:off x="868680" y="28529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80160" y="2843784"/>
            <a:ext cx="4434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Consultar y actualizar la planilla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68680" y="3419856"/>
            <a:ext cx="292608" cy="292608"/>
          </a:xfrm>
          <a:prstGeom prst="ellipse">
            <a:avLst/>
          </a:prstGeom>
          <a:solidFill>
            <a:srgbClr val="D7DEE4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4" name="Text 12"/>
          <p:cNvSpPr/>
          <p:nvPr/>
        </p:nvSpPr>
        <p:spPr>
          <a:xfrm>
            <a:off x="868680" y="34198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80160" y="3410712"/>
            <a:ext cx="4434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Calcular días transcurridos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68680" y="3986784"/>
            <a:ext cx="292608" cy="292608"/>
          </a:xfrm>
          <a:prstGeom prst="ellipse">
            <a:avLst/>
          </a:prstGeom>
          <a:solidFill>
            <a:srgbClr val="D7DEE4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7" name="Text 15"/>
          <p:cNvSpPr/>
          <p:nvPr/>
        </p:nvSpPr>
        <p:spPr>
          <a:xfrm>
            <a:off x="868680" y="398678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80160" y="3977640"/>
            <a:ext cx="4434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Enrutar por reglas fijas de estado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68680" y="4553712"/>
            <a:ext cx="292608" cy="292608"/>
          </a:xfrm>
          <a:prstGeom prst="ellipse">
            <a:avLst/>
          </a:prstGeom>
          <a:solidFill>
            <a:srgbClr val="D7DEE4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20" name="Text 18"/>
          <p:cNvSpPr/>
          <p:nvPr/>
        </p:nvSpPr>
        <p:spPr>
          <a:xfrm>
            <a:off x="868680" y="45537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280160" y="4544568"/>
            <a:ext cx="4434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Notificar por Telegram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68680" y="5257800"/>
            <a:ext cx="4663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tendría sentido usar un modelo de lenguaje para</a:t>
            </a:r>
            <a:endParaRPr lang="en-US" sz="10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05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tareas 100% reglables — sería costo y latencia sin beneficio.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080760" y="1280160"/>
            <a:ext cx="5532120" cy="4892040"/>
          </a:xfrm>
          <a:prstGeom prst="roundRect">
            <a:avLst>
              <a:gd name="adj" fmla="val 1869"/>
            </a:avLst>
          </a:prstGeom>
          <a:solidFill>
            <a:srgbClr val="21295C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24" name="Text 22"/>
          <p:cNvSpPr/>
          <p:nvPr/>
        </p:nvSpPr>
        <p:spPr>
          <a:xfrm>
            <a:off x="6400800" y="14630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IA · GOOGLE GEMINI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400800" y="173736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Interpretar lenguaje humano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400800" y="214884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C7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única tarea del proceso que un modelo de lenguaje resuelve mejor que</a:t>
            </a:r>
            <a:endParaRPr lang="en-US" sz="11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C7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cualquier regla: entender qué quiso decir un cliente en su propias palabras.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400800" y="2743200"/>
            <a:ext cx="4846320" cy="530352"/>
          </a:xfrm>
          <a:prstGeom prst="roundRect">
            <a:avLst>
              <a:gd name="adj" fmla="val 13793"/>
            </a:avLst>
          </a:prstGeom>
          <a:solidFill>
            <a:srgbClr val="2C3568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28" name="Text 26"/>
          <p:cNvSpPr/>
          <p:nvPr/>
        </p:nvSpPr>
        <p:spPr>
          <a:xfrm>
            <a:off x="6583680" y="2743200"/>
            <a:ext cx="2880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"Dale, acepto"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9464040" y="2862072"/>
            <a:ext cx="1691640" cy="274320"/>
          </a:xfrm>
          <a:prstGeom prst="roundRect">
            <a:avLst>
              <a:gd name="adj" fmla="val 50000"/>
            </a:avLst>
          </a:prstGeom>
          <a:solidFill>
            <a:srgbClr val="2E7D45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30" name="Text 28"/>
          <p:cNvSpPr/>
          <p:nvPr/>
        </p:nvSpPr>
        <p:spPr>
          <a:xfrm>
            <a:off x="9464040" y="286207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APROBADO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400800" y="3364992"/>
            <a:ext cx="4846320" cy="530352"/>
          </a:xfrm>
          <a:prstGeom prst="roundRect">
            <a:avLst>
              <a:gd name="adj" fmla="val 13793"/>
            </a:avLst>
          </a:prstGeom>
          <a:solidFill>
            <a:srgbClr val="2C3568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32" name="Text 30"/>
          <p:cNvSpPr/>
          <p:nvPr/>
        </p:nvSpPr>
        <p:spPr>
          <a:xfrm>
            <a:off x="6583680" y="3364992"/>
            <a:ext cx="2880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"No me interesa, gracias"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9464040" y="3483864"/>
            <a:ext cx="1691640" cy="274320"/>
          </a:xfrm>
          <a:prstGeom prst="roundRect">
            <a:avLst>
              <a:gd name="adj" fmla="val 50000"/>
            </a:avLst>
          </a:prstGeom>
          <a:solidFill>
            <a:srgbClr val="B23A2F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34" name="Text 32"/>
          <p:cNvSpPr/>
          <p:nvPr/>
        </p:nvSpPr>
        <p:spPr>
          <a:xfrm>
            <a:off x="9464040" y="3483864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RECHAZADO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400800" y="3986784"/>
            <a:ext cx="4846320" cy="530352"/>
          </a:xfrm>
          <a:prstGeom prst="roundRect">
            <a:avLst>
              <a:gd name="adj" fmla="val 13793"/>
            </a:avLst>
          </a:prstGeom>
          <a:solidFill>
            <a:srgbClr val="2C3568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36" name="Text 34"/>
          <p:cNvSpPr/>
          <p:nvPr/>
        </p:nvSpPr>
        <p:spPr>
          <a:xfrm>
            <a:off x="6583680" y="3986784"/>
            <a:ext cx="2880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"¿Incluye el service completo?"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9464040" y="4105656"/>
            <a:ext cx="1691640" cy="274320"/>
          </a:xfrm>
          <a:prstGeom prst="roundRect">
            <a:avLst>
              <a:gd name="adj" fmla="val 50000"/>
            </a:avLst>
          </a:prstGeom>
          <a:solidFill>
            <a:srgbClr val="C77700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38" name="Text 36"/>
          <p:cNvSpPr/>
          <p:nvPr/>
        </p:nvSpPr>
        <p:spPr>
          <a:xfrm>
            <a:off x="9464040" y="4105656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6400800" y="4608576"/>
            <a:ext cx="4846320" cy="530352"/>
          </a:xfrm>
          <a:prstGeom prst="roundRect">
            <a:avLst>
              <a:gd name="adj" fmla="val 13793"/>
            </a:avLst>
          </a:prstGeom>
          <a:solidFill>
            <a:srgbClr val="2C3568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40" name="Text 38"/>
          <p:cNvSpPr/>
          <p:nvPr/>
        </p:nvSpPr>
        <p:spPr>
          <a:xfrm>
            <a:off x="6583680" y="4608576"/>
            <a:ext cx="2880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"mmm no sé, después vemos"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9464040" y="4727448"/>
            <a:ext cx="1691640" cy="274320"/>
          </a:xfrm>
          <a:prstGeom prst="roundRect">
            <a:avLst>
              <a:gd name="adj" fmla="val 50000"/>
            </a:avLst>
          </a:prstGeom>
          <a:solidFill>
            <a:srgbClr val="9CA3AF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42" name="Text 40"/>
          <p:cNvSpPr/>
          <p:nvPr/>
        </p:nvSpPr>
        <p:spPr>
          <a:xfrm>
            <a:off x="9464040" y="472744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INDETERMINADO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6400800" y="5303520"/>
            <a:ext cx="4846320" cy="749808"/>
          </a:xfrm>
          <a:prstGeom prst="roundRect">
            <a:avLst>
              <a:gd name="adj" fmla="val 9756"/>
            </a:avLst>
          </a:prstGeom>
          <a:solidFill>
            <a:srgbClr val="3A2E1F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44" name="Text 42"/>
          <p:cNvSpPr/>
          <p:nvPr/>
        </p:nvSpPr>
        <p:spPr>
          <a:xfrm>
            <a:off x="6583680" y="5303520"/>
            <a:ext cx="44805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1000" b="1" dirty="0">
                <a:solidFill>
                  <a:srgbClr val="FFD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humano: CONSULTA e INDETERMINADO nunca se resuelven solos —</a:t>
            </a:r>
            <a:endParaRPr lang="en-US" sz="1000" dirty="0"/>
          </a:p>
          <a:p>
            <a:pPr marL="0" indent="0">
              <a:lnSpc>
                <a:spcPts val="1350"/>
              </a:lnSpc>
              <a:buNone/>
            </a:pPr>
            <a:r>
              <a:rPr lang="en-US" sz="1000" b="1" dirty="0">
                <a:solidFill>
                  <a:srgbClr val="FFD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siempre quedan en "Pendiente gestión administrativa" para que una persona decida.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Final Integrador · Diplomatura en Diseño de Procesos de Negocios · FCE-UBA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Metodología: qué salió mal y cómo se corrigió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64592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SE DIRIGIÓ EL TRABAJO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diseño del proceso y todas las decisiones de negocio fueron propias; Claude asistió en la implementación técnica en n8n, iterando sobre errores reales de la plataforma.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1109960" cy="786384"/>
          </a:xfrm>
          <a:prstGeom prst="roundRect">
            <a:avLst>
              <a:gd name="adj" fmla="val 8140"/>
            </a:avLst>
          </a:prstGeom>
          <a:solidFill>
            <a:srgbClr val="FFFFFF"/>
          </a:solidFill>
          <a:ln w="9525">
            <a:solidFill>
              <a:srgbClr val="E2E8E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6" name="Shape 4"/>
          <p:cNvSpPr/>
          <p:nvPr/>
        </p:nvSpPr>
        <p:spPr>
          <a:xfrm>
            <a:off x="713232" y="1792224"/>
            <a:ext cx="310896" cy="310896"/>
          </a:xfrm>
          <a:prstGeom prst="ellipse">
            <a:avLst/>
          </a:prstGeom>
          <a:solidFill>
            <a:srgbClr val="B23A2F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7" name="Text 5"/>
          <p:cNvSpPr/>
          <p:nvPr/>
        </p:nvSpPr>
        <p:spPr>
          <a:xfrm>
            <a:off x="713232" y="17922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88720" y="1609344"/>
            <a:ext cx="306324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50"/>
              </a:lnSpc>
              <a:buNone/>
            </a:pPr>
            <a:r>
              <a:rPr lang="en-US" sz="10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en Sheets no cambiaba nada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343400" y="1609344"/>
            <a:ext cx="347472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se mapeó la columna de matching, sin definir los valores nuevos a escribir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7909560" y="1609344"/>
            <a:ext cx="361188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2E7D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Completar explícitamente Estado, Fecha Envío y Última Actualización en el nodo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48640" y="2450592"/>
            <a:ext cx="11109960" cy="786384"/>
          </a:xfrm>
          <a:prstGeom prst="roundRect">
            <a:avLst>
              <a:gd name="adj" fmla="val 8140"/>
            </a:avLst>
          </a:prstGeom>
          <a:solidFill>
            <a:srgbClr val="F1F4F6"/>
          </a:solidFill>
          <a:ln w="9525">
            <a:solidFill>
              <a:srgbClr val="E2E8E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2" name="Shape 10"/>
          <p:cNvSpPr/>
          <p:nvPr/>
        </p:nvSpPr>
        <p:spPr>
          <a:xfrm>
            <a:off x="713232" y="2688336"/>
            <a:ext cx="310896" cy="310896"/>
          </a:xfrm>
          <a:prstGeom prst="ellipse">
            <a:avLst/>
          </a:prstGeom>
          <a:solidFill>
            <a:srgbClr val="B23A2F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3" name="Text 11"/>
          <p:cNvSpPr/>
          <p:nvPr/>
        </p:nvSpPr>
        <p:spPr>
          <a:xfrm>
            <a:off x="713232" y="26883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188720" y="2505456"/>
            <a:ext cx="306324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50"/>
              </a:lnSpc>
              <a:buNone/>
            </a:pPr>
            <a:r>
              <a:rPr lang="en-US" sz="10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Columnas nuevas no deseadas en la sheet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343400" y="2505456"/>
            <a:ext cx="347472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nodo Gmail devuelve su propia respuesta (id, threadId) y un Merge las mezclaba con los datos originales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7909560" y="2505456"/>
            <a:ext cx="361188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2E7D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Sacar el Merge y referenciar el nodo origen con $('Loop Over Items').item.json[...]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48640" y="3346704"/>
            <a:ext cx="11109960" cy="786384"/>
          </a:xfrm>
          <a:prstGeom prst="roundRect">
            <a:avLst>
              <a:gd name="adj" fmla="val 8140"/>
            </a:avLst>
          </a:prstGeom>
          <a:solidFill>
            <a:srgbClr val="FFFFFF"/>
          </a:solidFill>
          <a:ln w="9525">
            <a:solidFill>
              <a:srgbClr val="E2E8E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8" name="Shape 16"/>
          <p:cNvSpPr/>
          <p:nvPr/>
        </p:nvSpPr>
        <p:spPr>
          <a:xfrm>
            <a:off x="713232" y="3584448"/>
            <a:ext cx="310896" cy="310896"/>
          </a:xfrm>
          <a:prstGeom prst="ellipse">
            <a:avLst/>
          </a:prstGeom>
          <a:solidFill>
            <a:srgbClr val="B23A2F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9" name="Text 17"/>
          <p:cNvSpPr/>
          <p:nvPr/>
        </p:nvSpPr>
        <p:spPr>
          <a:xfrm>
            <a:off x="713232" y="35844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188720" y="3401568"/>
            <a:ext cx="306324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50"/>
              </a:lnSpc>
              <a:buNone/>
            </a:pPr>
            <a:r>
              <a:rPr lang="en-US" sz="10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Cálculo de días daba NaN / null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343400" y="3401568"/>
            <a:ext cx="347472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Formato de hora inconsistente ("0:00" vs "00:00") rompía el parseo estricto de fecha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7909560" y="3401568"/>
            <a:ext cx="361188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2E7D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Cambiar el formato de parseo de HH a H para aceptar 1 o 2 dígitos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48640" y="4242816"/>
            <a:ext cx="11109960" cy="786384"/>
          </a:xfrm>
          <a:prstGeom prst="roundRect">
            <a:avLst>
              <a:gd name="adj" fmla="val 8140"/>
            </a:avLst>
          </a:prstGeom>
          <a:solidFill>
            <a:srgbClr val="F1F4F6"/>
          </a:solidFill>
          <a:ln w="9525">
            <a:solidFill>
              <a:srgbClr val="E2E8E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4" name="Shape 22"/>
          <p:cNvSpPr/>
          <p:nvPr/>
        </p:nvSpPr>
        <p:spPr>
          <a:xfrm>
            <a:off x="713232" y="4480560"/>
            <a:ext cx="310896" cy="310896"/>
          </a:xfrm>
          <a:prstGeom prst="ellipse">
            <a:avLst/>
          </a:prstGeom>
          <a:solidFill>
            <a:srgbClr val="B23A2F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25" name="Text 23"/>
          <p:cNvSpPr/>
          <p:nvPr/>
        </p:nvSpPr>
        <p:spPr>
          <a:xfrm>
            <a:off x="713232" y="44805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188720" y="4297680"/>
            <a:ext cx="306324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50"/>
              </a:lnSpc>
              <a:buNone/>
            </a:pPr>
            <a:r>
              <a:rPr lang="en-US" sz="10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Extracción de Orden de Servicio fallaba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343400" y="4297680"/>
            <a:ext cx="347472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Faltaban operadores || entre las alternativas de fallback, y el regex no contemplaba guion bajo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7909560" y="4297680"/>
            <a:ext cx="361188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2E7D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Reescribir la cadena de OR y ajustar el regex a OS[_-]?\d+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548640" y="5138928"/>
            <a:ext cx="11109960" cy="786384"/>
          </a:xfrm>
          <a:prstGeom prst="roundRect">
            <a:avLst>
              <a:gd name="adj" fmla="val 8140"/>
            </a:avLst>
          </a:prstGeom>
          <a:solidFill>
            <a:srgbClr val="FFFFFF"/>
          </a:solidFill>
          <a:ln w="9525">
            <a:solidFill>
              <a:srgbClr val="E2E8E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0" name="Shape 28"/>
          <p:cNvSpPr/>
          <p:nvPr/>
        </p:nvSpPr>
        <p:spPr>
          <a:xfrm>
            <a:off x="713232" y="5376672"/>
            <a:ext cx="310896" cy="310896"/>
          </a:xfrm>
          <a:prstGeom prst="ellipse">
            <a:avLst/>
          </a:prstGeom>
          <a:solidFill>
            <a:srgbClr val="B23A2F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31" name="Text 29"/>
          <p:cNvSpPr/>
          <p:nvPr/>
        </p:nvSpPr>
        <p:spPr>
          <a:xfrm>
            <a:off x="713232" y="53766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188720" y="5193792"/>
            <a:ext cx="306324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50"/>
              </a:lnSpc>
              <a:buNone/>
            </a:pPr>
            <a:r>
              <a:rPr lang="en-US" sz="10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Nodo de Gemini rechazaba la request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343400" y="5193792"/>
            <a:ext cx="347472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gemini-1.5-flash dado de baja por Google; parámetro de query en mayúsculas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7909560" y="5193792"/>
            <a:ext cx="361188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2E7D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Migrar a gemini-flash-latest y corregir el nombre del parámetro a minúscula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1188720" y="1298448"/>
            <a:ext cx="3063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4343400" y="1298448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 raíz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7909560" y="12984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Solución aplicada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Final Integrador · Diplomatura en Diseño de Procesos de Negocios · FCE-UBA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Análisis crítico · AIBPS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64592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EVALUACIÓN DEL REDISEÑO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212080" cy="2148840"/>
          </a:xfrm>
          <a:prstGeom prst="roundRect">
            <a:avLst>
              <a:gd name="adj" fmla="val 4255"/>
            </a:avLst>
          </a:prstGeom>
          <a:solidFill>
            <a:srgbClr val="252E66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5" name="Shape 3"/>
          <p:cNvSpPr/>
          <p:nvPr/>
        </p:nvSpPr>
        <p:spPr>
          <a:xfrm>
            <a:off x="804672" y="1719072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6" name="Text 4"/>
          <p:cNvSpPr/>
          <p:nvPr/>
        </p:nvSpPr>
        <p:spPr>
          <a:xfrm>
            <a:off x="804672" y="17190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554480" y="173736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Agilidad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22960" y="2377440"/>
            <a:ext cx="46634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50"/>
              </a:lnSpc>
              <a:buNone/>
            </a:pPr>
            <a:r>
              <a:rPr lang="en-US" sz="1050" dirty="0">
                <a:solidFill>
                  <a:srgbClr val="C7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envío pasa de "cuando alguien se acuerde" a automático en minutos. El seguimiento diario elimina la espera de que un empleado note que pasaron los días.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126480" y="1463040"/>
            <a:ext cx="5212080" cy="2148840"/>
          </a:xfrm>
          <a:prstGeom prst="roundRect">
            <a:avLst>
              <a:gd name="adj" fmla="val 4255"/>
            </a:avLst>
          </a:prstGeom>
          <a:solidFill>
            <a:srgbClr val="252E66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0" name="Shape 8"/>
          <p:cNvSpPr/>
          <p:nvPr/>
        </p:nvSpPr>
        <p:spPr>
          <a:xfrm>
            <a:off x="6382512" y="1719072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1" name="Text 9"/>
          <p:cNvSpPr/>
          <p:nvPr/>
        </p:nvSpPr>
        <p:spPr>
          <a:xfrm>
            <a:off x="6382512" y="17190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132320" y="173736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Fluidez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400800" y="2377440"/>
            <a:ext cx="46634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50"/>
              </a:lnSpc>
              <a:buNone/>
            </a:pPr>
            <a:r>
              <a:rPr lang="en-US" sz="1050" dirty="0">
                <a:solidFill>
                  <a:srgbClr val="C7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cliente responde con lenguaje natural (mail o botón), sin fricción nueva. Administración solo interviene cuando Gemini deriva un caso ambiguo.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3977640"/>
            <a:ext cx="5212080" cy="2148840"/>
          </a:xfrm>
          <a:prstGeom prst="roundRect">
            <a:avLst>
              <a:gd name="adj" fmla="val 4255"/>
            </a:avLst>
          </a:prstGeom>
          <a:solidFill>
            <a:srgbClr val="252E66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5" name="Shape 13"/>
          <p:cNvSpPr/>
          <p:nvPr/>
        </p:nvSpPr>
        <p:spPr>
          <a:xfrm>
            <a:off x="804672" y="4233672"/>
            <a:ext cx="548640" cy="548640"/>
          </a:xfrm>
          <a:prstGeom prst="ellipse">
            <a:avLst/>
          </a:prstGeom>
          <a:solidFill>
            <a:srgbClr val="2E7D45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6" name="Text 14"/>
          <p:cNvSpPr/>
          <p:nvPr/>
        </p:nvSpPr>
        <p:spPr>
          <a:xfrm>
            <a:off x="804672" y="42336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554480" y="425196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Protección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22960" y="4892040"/>
            <a:ext cx="46634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50"/>
              </a:lnSpc>
              <a:buNone/>
            </a:pPr>
            <a:r>
              <a:rPr lang="en-US" sz="1050" dirty="0">
                <a:solidFill>
                  <a:srgbClr val="C7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única sheet centraliza y traza todo el historial (fechas, recordatorios, motivos). No hay copias dispersas ni datos solo "en la cabeza" de una persona.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126480" y="3977640"/>
            <a:ext cx="5212080" cy="2148840"/>
          </a:xfrm>
          <a:prstGeom prst="roundRect">
            <a:avLst>
              <a:gd name="adj" fmla="val 4255"/>
            </a:avLst>
          </a:prstGeom>
          <a:solidFill>
            <a:srgbClr val="252E66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20" name="Shape 18"/>
          <p:cNvSpPr/>
          <p:nvPr/>
        </p:nvSpPr>
        <p:spPr>
          <a:xfrm>
            <a:off x="6382512" y="4233672"/>
            <a:ext cx="548640" cy="548640"/>
          </a:xfrm>
          <a:prstGeom prst="ellipse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21" name="Text 19"/>
          <p:cNvSpPr/>
          <p:nvPr/>
        </p:nvSpPr>
        <p:spPr>
          <a:xfrm>
            <a:off x="6382512" y="42336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132320" y="425196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6400800" y="4892040"/>
            <a:ext cx="46634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50"/>
              </a:lnSpc>
              <a:buNone/>
            </a:pPr>
            <a:r>
              <a:rPr lang="en-US" sz="1050" dirty="0">
                <a:solidFill>
                  <a:srgbClr val="C7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IA solo clasifica, nunca decide sola en casos ambiguos: CONSULTA e INDETERMINADO siempre pasan a control humano. Todo queda auditado en la planilla.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Final Integrador · Diplomatura en Diseño de Procesos de Negocios · FCE-UBA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Beneficios y conclusiones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64592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BENEFICIOS OBTENIDOS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274320" cy="274320"/>
          </a:xfrm>
          <a:prstGeom prst="ellipse">
            <a:avLst/>
          </a:prstGeom>
          <a:solidFill>
            <a:srgbClr val="2E7D45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6" name="Text 4"/>
          <p:cNvSpPr/>
          <p:nvPr/>
        </p:nvSpPr>
        <p:spPr>
          <a:xfrm>
            <a:off x="548640" y="16002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60120" y="1572768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 el olvido de enviar presupuestos o hacer seguimiento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2167128"/>
            <a:ext cx="274320" cy="274320"/>
          </a:xfrm>
          <a:prstGeom prst="ellipse">
            <a:avLst/>
          </a:prstGeom>
          <a:solidFill>
            <a:srgbClr val="2E7D45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9" name="Text 7"/>
          <p:cNvSpPr/>
          <p:nvPr/>
        </p:nvSpPr>
        <p:spPr>
          <a:xfrm>
            <a:off x="548640" y="21671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60120" y="2139696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Recordatorios y vencimientos 100% automáticos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2734056"/>
            <a:ext cx="274320" cy="274320"/>
          </a:xfrm>
          <a:prstGeom prst="ellipse">
            <a:avLst/>
          </a:prstGeom>
          <a:solidFill>
            <a:srgbClr val="2E7D45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2" name="Text 10"/>
          <p:cNvSpPr/>
          <p:nvPr/>
        </p:nvSpPr>
        <p:spPr>
          <a:xfrm>
            <a:off x="548640" y="27340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60120" y="2706624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la información centralizada y trazable en un solo lugar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300984"/>
            <a:ext cx="274320" cy="274320"/>
          </a:xfrm>
          <a:prstGeom prst="ellipse">
            <a:avLst/>
          </a:prstGeom>
          <a:solidFill>
            <a:srgbClr val="2E7D45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5" name="Text 13"/>
          <p:cNvSpPr/>
          <p:nvPr/>
        </p:nvSpPr>
        <p:spPr>
          <a:xfrm>
            <a:off x="548640" y="33009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60120" y="3273552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Interpretación de respuestas en lenguaje natural con IA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3867912"/>
            <a:ext cx="274320" cy="274320"/>
          </a:xfrm>
          <a:prstGeom prst="ellipse">
            <a:avLst/>
          </a:prstGeom>
          <a:solidFill>
            <a:srgbClr val="2E7D45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8" name="Text 16"/>
          <p:cNvSpPr/>
          <p:nvPr/>
        </p:nvSpPr>
        <p:spPr>
          <a:xfrm>
            <a:off x="548640" y="38679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60120" y="384048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Intervención humana solo cuando realmente agrega valor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4434840"/>
            <a:ext cx="274320" cy="274320"/>
          </a:xfrm>
          <a:prstGeom prst="ellipse">
            <a:avLst/>
          </a:prstGeom>
          <a:solidFill>
            <a:srgbClr val="2E7D45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21" name="Text 19"/>
          <p:cNvSpPr/>
          <p:nvPr/>
        </p:nvSpPr>
        <p:spPr>
          <a:xfrm>
            <a:off x="548640" y="44348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60120" y="4407408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el tiempo administrativo dedicado a tareas repetitivas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080760" y="1188720"/>
            <a:ext cx="5532120" cy="4709160"/>
          </a:xfrm>
          <a:prstGeom prst="roundRect">
            <a:avLst>
              <a:gd name="adj" fmla="val 1942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24" name="Text 22"/>
          <p:cNvSpPr/>
          <p:nvPr/>
        </p:nvSpPr>
        <p:spPr>
          <a:xfrm>
            <a:off x="6355080" y="13716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355080" y="164592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simplicidad como criterio de diseño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355080" y="2194560"/>
            <a:ext cx="49377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50"/>
              </a:lnSpc>
              <a:buNone/>
            </a:pPr>
            <a:r>
              <a:rPr lang="en-US" sz="1100" dirty="0">
                <a:solidFill>
                  <a:srgbClr val="CF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TP demuestra que n8n puede integrar herramientas cotidianas (Sheets, Gmail, Telegram) con un modelo de IA (Gemini) para automatizar un proceso administrativo real, sin necesitar infraestructura compleja ni una arquitectura "enterprise".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355080" y="3383280"/>
            <a:ext cx="4663440" cy="0"/>
          </a:xfrm>
          <a:prstGeom prst="line">
            <a:avLst/>
          </a:prstGeom>
          <a:noFill/>
          <a:ln w="12700">
            <a:solidFill>
              <a:srgbClr val="3B6B8A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8" name="Text 26"/>
          <p:cNvSpPr/>
          <p:nvPr/>
        </p:nvSpPr>
        <p:spPr>
          <a:xfrm>
            <a:off x="6355080" y="3520440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FE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haría distinto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355080" y="3822192"/>
            <a:ext cx="4937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C7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Sumar tests automáticos con filas de prueba fijas, y manejar mejor el rate-limit del plan de n8n antes de activar los triggers en simultáneo.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355080" y="4480560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FE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Hasta dónde escalarlo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355080" y="4782312"/>
            <a:ext cx="4937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C7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mismo patrón (estado centralizado + 3 workflows + clasificación con IA) aplica directo a cualquier proceso de aprobación con clientes: turnos, reclamos, cotizaciones.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Final Integrador · Diplomatura en Diseño de Procesos de Negocios · FCE-UBA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1833</Words>
  <Application>Microsoft Office PowerPoint</Application>
  <PresentationFormat>Panorámica</PresentationFormat>
  <Paragraphs>335</Paragraphs>
  <Slides>13</Slides>
  <Notes>13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17" baseType="lpstr">
      <vt:lpstr>Arial</vt:lpstr>
      <vt:lpstr>Calibri</vt:lpstr>
      <vt:lpstr>Cambria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Alejo Martin Palacios</cp:lastModifiedBy>
  <cp:revision>3</cp:revision>
  <dcterms:created xsi:type="dcterms:W3CDTF">2026-07-09T16:45:20Z</dcterms:created>
  <dcterms:modified xsi:type="dcterms:W3CDTF">2026-07-09T20:41:37Z</dcterms:modified>
</cp:coreProperties>
</file>